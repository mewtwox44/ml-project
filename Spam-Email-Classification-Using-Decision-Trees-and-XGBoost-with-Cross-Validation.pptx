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Alice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ora" pitchFamily="2" charset="0"/>
      <p:regular r:id="rId20"/>
    </p:embeddedFont>
    <p:embeddedFont>
      <p:font typeface="Lora Bold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1C9509-A60F-4B4D-89C5-9B31FBADFB78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617A8A61-706A-4C46-9D11-483B6EB50758}">
          <p14:sldIdLst>
            <p14:sldId id="266"/>
            <p14:sldId id="267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2" d="100"/>
          <a:sy n="72" d="100"/>
        </p:scale>
        <p:origin x="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84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779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Spam Email Classification Using Decision Trees and XGBoost with Cross-Validation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22563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Machine Learning Project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concise classification pipeline for email.  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Team: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266297" y="3752652"/>
            <a:ext cx="10263923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N. Yishnaani — 2520030414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Pragnya — 2520030430   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782741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Guide: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Shaik Asif, Assistant Professor, CSE Dept. — Academic Year: 2026–27  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   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Visual: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Email → Machine Learning → </a:t>
            </a:r>
            <a:r>
              <a:rPr lang="en-US" sz="14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SPAM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/ LEGITIMATE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5FAD95-6CE1-673A-1C6A-B2434E834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7219" y="6455549"/>
            <a:ext cx="2216264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470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Why Do We Need Spam Detection?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520652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Email is ubiquitous.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Volume makes manual filtering impractical.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Spam harms users.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Phishing, scams, and unwanted content.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ML learns patterns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from labeled emails to classify new messages.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Automation saves time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and reduces user exposure to threats.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21203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Problem Statement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7907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Develop a simple ML system to classify emails as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Spam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or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Legitimate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772574-BF7A-E426-C29B-D1321C95D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541" y="6470630"/>
            <a:ext cx="2216264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5408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Objectives &amp; Basic Approach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510036"/>
            <a:ext cx="10868745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Prepare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and clean the email dataset.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Convert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text into numerical features (TF-IDF).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Train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multiple ML models and compare.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Evaluate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with cross-validation and metrics.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Identify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effectiveness of Decision Tree and XGBoost.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49907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Visual summary: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Dataset → Preprocessing → Feature Extraction → Model Training → Cross-Validation → Evaluation → Prediction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18874-BA1A-248A-7BEA-80C1396A5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2419" y="6470630"/>
            <a:ext cx="2216264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351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Preprocessing &amp; TF‑IDF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31159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1 — Preprocessing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90341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Clean text: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remove HTML, headers, punctuation, and non‑text noise.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Normalize: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lowercasing, tokenization, optional stopword removal.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Result: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processed plain-text ready for feature extraction.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213225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Step 2 — TF‑IDF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79196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TF‑IDF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converts processed text to numerical features by weighting terms by importance across the corpus.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F5B3E5-4964-FE2A-7EAE-7382EF108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541" y="6470630"/>
            <a:ext cx="2216264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59880"/>
            <a:ext cx="736582" cy="736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34290" y="2059880"/>
            <a:ext cx="15671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Logistic Regression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1634290" y="2763838"/>
            <a:ext cx="156712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Baseline model.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Linear separation of classes. Fast and interpretable.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059880"/>
            <a:ext cx="736582" cy="736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10461" y="2059880"/>
            <a:ext cx="156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Decision Tree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4410461" y="2468563"/>
            <a:ext cx="156722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Tree-based.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Rules split features to decide Spam vs Legitimate. Easy to visualize.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059880"/>
            <a:ext cx="736582" cy="736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86730" y="2059880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Random Forest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7186730" y="2763838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Ensemble of trees.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Reduces variance by averaging many trees.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059880"/>
            <a:ext cx="736582" cy="736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63000" y="2059880"/>
            <a:ext cx="1567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XGBoost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9963000" y="2468563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Boosting model.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Sequential trees improve errors; often strong performance.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661475" y="449570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Goal: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Compare models using the same data and validation process. No claims about which is best without results.</a:t>
            </a: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D3AFDA-A979-E886-350F-92FA41A11B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3541" y="6470630"/>
            <a:ext cx="2216264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BFC253-D9E6-7CEB-AEC2-EC7B1D926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03" y="816747"/>
            <a:ext cx="4614268" cy="58394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F909FF-73B9-32EF-9FD8-1A0ABE89963A}"/>
              </a:ext>
            </a:extLst>
          </p:cNvPr>
          <p:cNvSpPr txBox="1"/>
          <p:nvPr/>
        </p:nvSpPr>
        <p:spPr>
          <a:xfrm>
            <a:off x="763480" y="201851"/>
            <a:ext cx="58740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FLOW OF THE SPAM EMAIL DETECTION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3AEE94-1913-7DC0-AE27-85B0C5D15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580" y="816747"/>
            <a:ext cx="5386617" cy="584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37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D15C3C-C330-D173-97AB-38F991299FE2}"/>
              </a:ext>
            </a:extLst>
          </p:cNvPr>
          <p:cNvSpPr txBox="1"/>
          <p:nvPr/>
        </p:nvSpPr>
        <p:spPr>
          <a:xfrm>
            <a:off x="2443578" y="520875"/>
            <a:ext cx="609452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 6048 EMAILS</a:t>
            </a:r>
          </a:p>
          <a:p>
            <a:r>
              <a:rPr lang="en-GB" sz="1200" dirty="0"/>
              <a:t>                     ↓</a:t>
            </a:r>
          </a:p>
          <a:p>
            <a:r>
              <a:rPr lang="en-GB" sz="1200" dirty="0"/>
              <a:t>              ┌─────────────┐</a:t>
            </a:r>
          </a:p>
          <a:p>
            <a:r>
              <a:rPr lang="en-GB" sz="1200" dirty="0"/>
              <a:t>              │   EDA       │</a:t>
            </a:r>
          </a:p>
          <a:p>
            <a:r>
              <a:rPr lang="en-GB" sz="1200" dirty="0"/>
              <a:t>              └──────┬──────┘</a:t>
            </a:r>
          </a:p>
          <a:p>
            <a:r>
              <a:rPr lang="en-GB" sz="1200" dirty="0"/>
              <a:t>                     ↓</a:t>
            </a:r>
          </a:p>
          <a:p>
            <a:r>
              <a:rPr lang="en-GB" sz="1200" dirty="0"/>
              <a:t>          Missing values</a:t>
            </a:r>
          </a:p>
          <a:p>
            <a:r>
              <a:rPr lang="en-GB" sz="1200" dirty="0"/>
              <a:t>          Duplicate emails</a:t>
            </a:r>
          </a:p>
          <a:p>
            <a:r>
              <a:rPr lang="en-GB" sz="1200" dirty="0"/>
              <a:t>          Spam/Ham balance</a:t>
            </a:r>
          </a:p>
          <a:p>
            <a:r>
              <a:rPr lang="en-GB" sz="1200" dirty="0"/>
              <a:t>          Email length</a:t>
            </a:r>
          </a:p>
          <a:p>
            <a:r>
              <a:rPr lang="en-GB" sz="1200" dirty="0"/>
              <a:t>          Outliers</a:t>
            </a:r>
          </a:p>
          <a:p>
            <a:r>
              <a:rPr lang="en-GB" sz="1200" dirty="0"/>
              <a:t>          Sample emails</a:t>
            </a:r>
          </a:p>
          <a:p>
            <a:r>
              <a:rPr lang="en-GB" sz="1200" dirty="0"/>
              <a:t>                     ↓</a:t>
            </a:r>
          </a:p>
          <a:p>
            <a:r>
              <a:rPr lang="en-GB" sz="1200" dirty="0"/>
              <a:t>            DATA PREPROCESSING</a:t>
            </a:r>
          </a:p>
          <a:p>
            <a:r>
              <a:rPr lang="en-GB" sz="1200" dirty="0"/>
              <a:t>                     ↓</a:t>
            </a:r>
          </a:p>
          <a:p>
            <a:r>
              <a:rPr lang="en-GB" sz="1200" dirty="0"/>
              <a:t>             TEXT CLEANING</a:t>
            </a:r>
          </a:p>
          <a:p>
            <a:r>
              <a:rPr lang="en-GB" sz="1200" dirty="0"/>
              <a:t>                     ↓</a:t>
            </a:r>
          </a:p>
          <a:p>
            <a:r>
              <a:rPr lang="en-GB" sz="1200" dirty="0"/>
              <a:t>                TF-IDF</a:t>
            </a:r>
          </a:p>
          <a:p>
            <a:r>
              <a:rPr lang="en-GB" sz="1200" dirty="0"/>
              <a:t>                     ↓</a:t>
            </a:r>
          </a:p>
          <a:p>
            <a:r>
              <a:rPr lang="en-GB" sz="1200" dirty="0"/>
              <a:t>          ┌──────────┴──────────┐</a:t>
            </a:r>
          </a:p>
          <a:p>
            <a:r>
              <a:rPr lang="en-GB" sz="1200" dirty="0"/>
              <a:t>          ↓                     ↓</a:t>
            </a:r>
          </a:p>
          <a:p>
            <a:r>
              <a:rPr lang="en-GB" sz="1200" dirty="0"/>
              <a:t>   Decision Tree             </a:t>
            </a:r>
            <a:r>
              <a:rPr lang="en-GB" sz="1200" dirty="0" err="1"/>
              <a:t>XGBoost</a:t>
            </a:r>
            <a:endParaRPr lang="en-GB" sz="1200" dirty="0"/>
          </a:p>
          <a:p>
            <a:r>
              <a:rPr lang="en-GB" sz="1200" dirty="0"/>
              <a:t>          ↓                     ↓</a:t>
            </a:r>
          </a:p>
          <a:p>
            <a:r>
              <a:rPr lang="en-GB" sz="1200" dirty="0"/>
              <a:t>          └──────────┬──────────┘</a:t>
            </a:r>
          </a:p>
          <a:p>
            <a:r>
              <a:rPr lang="en-GB" sz="1200" dirty="0"/>
              <a:t>                     ↓</a:t>
            </a:r>
          </a:p>
          <a:p>
            <a:r>
              <a:rPr lang="en-GB" sz="1200" dirty="0"/>
              <a:t>             5-Fold CV</a:t>
            </a:r>
          </a:p>
          <a:p>
            <a:r>
              <a:rPr lang="en-GB" sz="1200" dirty="0"/>
              <a:t>                     ↓</a:t>
            </a:r>
          </a:p>
          <a:p>
            <a:r>
              <a:rPr lang="en-GB" sz="1200" dirty="0"/>
              <a:t>       Accuracy / Precision /</a:t>
            </a:r>
          </a:p>
          <a:p>
            <a:r>
              <a:rPr lang="en-GB" sz="1200" dirty="0"/>
              <a:t>       Recall / F1-score</a:t>
            </a:r>
          </a:p>
          <a:p>
            <a:r>
              <a:rPr lang="en-GB" sz="1200" dirty="0"/>
              <a:t>                     ↓</a:t>
            </a:r>
          </a:p>
          <a:p>
            <a:r>
              <a:rPr lang="en-GB" sz="1200" dirty="0"/>
              <a:t>             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785241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352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Decision Tree vs XGBoost — Key Differences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774031"/>
            <a:ext cx="10868745" cy="1089124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1963043"/>
            <a:ext cx="104907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Decision Tree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2371725"/>
            <a:ext cx="1049073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Single model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with branch decisions. Simple splits and easy to explain.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052167"/>
            <a:ext cx="10868745" cy="1089124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850482" y="3241179"/>
            <a:ext cx="104907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XGBoost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3649861"/>
            <a:ext cx="1049073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Sequential ensemble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of trees using gradient boosting. Focuses on correcting previous errors.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330303"/>
            <a:ext cx="10868745" cy="1089124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4519315"/>
            <a:ext cx="104907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Interpretability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0482" y="4927997"/>
            <a:ext cx="1049073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 Tree: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high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XGBoost: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lower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but can be explained with SHAP (optional).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8E5DF3-C853-E7E0-2179-2AE3629F4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541" y="6470630"/>
            <a:ext cx="2216264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4702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Cross‑Validation &amp; Hyperparameter Tuning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3102967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Avoid memorization.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Do not let models simply memorize training examples.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Cross‑validation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tests models on multiple data portions for robust estimates.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Hyperparameter tuning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searches for settings that improve generalization.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Final evaluation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uses held‑out data after tuning for an unbiased check.</a:t>
            </a:r>
            <a:endParaRPr lang="en-US" sz="1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47183-1560-61B0-53FF-D1C0654DD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541" y="6470630"/>
            <a:ext cx="2216264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034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Evaluation Metrics — What to Measure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0084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00084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Accuracy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409527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Overall fraction of correct predictions.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200084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00084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Precision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2409527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How many predicted spam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are actually spam.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089970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3089970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Recall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3498652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How much actual spam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the model detects.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3915" y="3089970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3089970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F1‑Score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3498652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Harmonic mean of precision and recall.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4179094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0177" y="4179094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ROC‑AUC &amp; PR‑AUC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370177" y="4587776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Separation ability and precision-recall tradeoffs.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13915" y="4179094"/>
            <a:ext cx="472468" cy="472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22617" y="4179094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Calibration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922617" y="4587776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Whether predicted probabilities reflect real confidence.</a:t>
            </a:r>
            <a:endParaRPr lang="en-US" sz="14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096C8CC-6357-1CB6-E5DF-19E6DA9C236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23541" y="6470630"/>
            <a:ext cx="2216264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4222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Unsupervised Learning &amp; Data Exploration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892723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K‑Means: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find similar groups of emails.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DBSCAN: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detect dense clusters and anomalies.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PCA: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reduce dimensions for simpler views.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t‑SNE / UMAP: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visualize high‑dimensional patterns.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51326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Purpose: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Discover patterns and anomalies separate from the supervised task.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17E10F-AA82-1DBE-D587-38D9BAA25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541" y="6470630"/>
            <a:ext cx="2216264" cy="3873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045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336403"/>
            <a:ext cx="10868745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Built a simple ML pipeline for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Spam vs Legitimate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classification.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Used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preprocessing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and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TF‑IDF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to create features from email text.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Compared models including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Decision Tree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and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XGBoost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Applied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cross‑validation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and multiple metrics for reliable assessment.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Used unsupervised methods to </a:t>
            </a: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explore</a:t>
            </a: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patterns and anomalies.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39628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Thank You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356682" y="497502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Questions?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B94894-46B2-B06D-366D-09F9CAD41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3541" y="6470630"/>
            <a:ext cx="2216264" cy="3873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714</Words>
  <Application>Microsoft Office PowerPoint</Application>
  <PresentationFormat>Widescreen</PresentationFormat>
  <Paragraphs>118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Lora</vt:lpstr>
      <vt:lpstr>Arial</vt:lpstr>
      <vt:lpstr>Calibri</vt:lpstr>
      <vt:lpstr>Lora Bold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LENOVO</cp:lastModifiedBy>
  <cp:revision>4</cp:revision>
  <dcterms:created xsi:type="dcterms:W3CDTF">2026-08-28T09:14:59Z</dcterms:created>
  <dcterms:modified xsi:type="dcterms:W3CDTF">2026-08-28T10:15:58Z</dcterms:modified>
</cp:coreProperties>
</file>