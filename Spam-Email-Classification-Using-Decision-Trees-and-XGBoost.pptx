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embeddedFontLst>
    <p:embeddedFont>
      <p:font typeface="Calibri" panose="020F0502020204030204" pitchFamily="34" charset="0"/>
      <p:regular r:id="rId16"/>
      <p:bold r:id="rId17"/>
      <p:italic r:id="rId18"/>
      <p:boldItalic r:id="rId19"/>
    </p:embeddedFont>
    <p:embeddedFont>
      <p:font typeface="Geist" panose="020B0604020202020204" charset="0"/>
      <p:regular r:id="rId20"/>
    </p:embeddedFont>
    <p:embeddedFont>
      <p:font typeface="Geist Bold" panose="020B0604020202020204" charset="0"/>
      <p:regular r:id="rId21"/>
    </p:embeddedFont>
    <p:embeddedFont>
      <p:font typeface="Geist Medium" panose="020B0604020202020204" charset="0"/>
      <p:regular r:id="rId22"/>
    </p:embeddedFont>
    <p:embeddedFont>
      <p:font typeface="Geist Mono" panose="020B0604020202020204" charset="0"/>
      <p:regular r:id="rId23"/>
    </p:embeddedFont>
    <p:embeddedFont>
      <p:font typeface="Geist Mono Medium" panose="020B0604020202020204" charset="0"/>
      <p:regular r:id="rId24"/>
    </p:embeddedFont>
    <p:embeddedFont>
      <p:font typeface="Geist SemiBold" panose="020B0604020202020204" charset="0"/>
      <p:regular r:id="rId25"/>
    </p:embeddedFont>
    <p:embeddedFont>
      <p:font typeface="Lora" pitchFamily="2" charset="0"/>
      <p:regular r:id="rId26"/>
    </p:embeddedFont>
    <p:embeddedFont>
      <p:font typeface="Lora Bold" charset="0"/>
      <p:regular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6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690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project presentation on Spam Email Classification using Decision Trees and XGBoost. We evaluate both classifiers on the CEAS-08 corpus under identical TF-IDF features and stratified 5-fold cross-validation to ensure an unbiased algorithmic comparison.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detection is an active adversarial classification challenge. Rather than examining code syntax, this presentation investigates the end-to-end classification system: data hygiene, linguistic feature extraction, and a direct benchmark between interpretable decision trees and ensemble gradient boosting.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CEAS-08 is a widely cited email corpus sourced via Kaggle. While metadata attributes such as sender, receiver, and date exist in the raw CSV, our classification experiments center on natural language processing of the concatenated subject and body fields mapped to the ground-truth binary label.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a clear, interpretable Decision Tree baseline with XGBoost, a gradient boosting algorithm that builds decision trees sequentially. Both models use the same dataset and TF-IDF feature representation so their performance can be compared fairly.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comparison slide brings together both held-out test metrics and cross-validation averages. The layout is structured with explicit bracketed placeholders so the actual experiment findings can be verified directly without preempting empirical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actual notebook values to complete the table and the selected-metric interpretation. Do not name a winner until the finalized results support that conclusion.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summarizing the implemented pipeline, then invite questions and point to the four practical directions for extending the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4F5"/>
          </a:solidFill>
          <a:ln/>
        </p:spPr>
      </p:sp>
      <p:sp>
        <p:nvSpPr>
          <p:cNvPr id="3" name="Shape 1"/>
          <p:cNvSpPr/>
          <p:nvPr/>
        </p:nvSpPr>
        <p:spPr>
          <a:xfrm>
            <a:off x="0" y="0"/>
            <a:ext cx="12191695" cy="6858000"/>
          </a:xfrm>
          <a:prstGeom prst="rect">
            <a:avLst/>
          </a:prstGeom>
          <a:solidFill>
            <a:srgbClr val="F7FAFB"/>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4F5"/>
          </a:solidFill>
          <a:ln/>
        </p:spPr>
      </p:sp>
      <p:sp>
        <p:nvSpPr>
          <p:cNvPr id="3" name="Shape 1"/>
          <p:cNvSpPr/>
          <p:nvPr/>
        </p:nvSpPr>
        <p:spPr>
          <a:xfrm>
            <a:off x="0" y="0"/>
            <a:ext cx="12191695" cy="6858000"/>
          </a:xfrm>
          <a:prstGeom prst="rect">
            <a:avLst/>
          </a:prstGeom>
          <a:solidFill>
            <a:srgbClr val="F7FAFB"/>
          </a:solidFill>
          <a:ln/>
        </p:spPr>
      </p:sp>
      <p:sp>
        <p:nvSpPr>
          <p:cNvPr id="4" name="Shape 2"/>
          <p:cNvSpPr/>
          <p:nvPr/>
        </p:nvSpPr>
        <p:spPr>
          <a:xfrm>
            <a:off x="0" y="0"/>
            <a:ext cx="12191695" cy="6858000"/>
          </a:xfrm>
          <a:prstGeom prst="rect">
            <a:avLst/>
          </a:prstGeom>
          <a:solidFill>
            <a:srgbClr val="E3ECEF"/>
          </a:solidFill>
          <a:ln/>
        </p:spPr>
      </p:sp>
      <p:pic>
        <p:nvPicPr>
          <p:cNvPr id="5"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0383" y="711200"/>
            <a:ext cx="11074123" cy="2331541"/>
          </a:xfrm>
          <a:prstGeom prst="rect">
            <a:avLst/>
          </a:prstGeom>
          <a:noFill/>
          <a:ln/>
        </p:spPr>
        <p:txBody>
          <a:bodyPr wrap="square" lIns="0" tIns="0" rIns="0" bIns="0" rtlCol="0" anchor="t">
            <a:normAutofit lnSpcReduction="10000"/>
          </a:bodyPr>
          <a:lstStyle/>
          <a:p>
            <a:pPr marL="0" indent="0" algn="l">
              <a:lnSpc>
                <a:spcPct val="85000"/>
              </a:lnSpc>
              <a:buNone/>
            </a:pPr>
            <a:r>
              <a:rPr lang="en-US" sz="6000" kern="0" spc="-180" dirty="0">
                <a:solidFill>
                  <a:srgbClr val="0F1E26"/>
                </a:solidFill>
                <a:latin typeface="Geist Medium" pitchFamily="34" charset="0"/>
                <a:ea typeface="Geist Medium" pitchFamily="34" charset="-122"/>
                <a:cs typeface="Geist Medium" pitchFamily="34" charset="-120"/>
              </a:rPr>
              <a:t>Spam Email Classification Using Decision Trees and XGBoost with Cross-Validation</a:t>
            </a:r>
            <a:endParaRPr lang="en-US" sz="6000" dirty="0"/>
          </a:p>
        </p:txBody>
      </p:sp>
      <p:sp>
        <p:nvSpPr>
          <p:cNvPr id="3" name="Text 1"/>
          <p:cNvSpPr/>
          <p:nvPr/>
        </p:nvSpPr>
        <p:spPr>
          <a:xfrm>
            <a:off x="660383" y="3220541"/>
            <a:ext cx="5365032" cy="323156"/>
          </a:xfrm>
          <a:prstGeom prst="rect">
            <a:avLst/>
          </a:prstGeom>
          <a:noFill/>
          <a:ln/>
        </p:spPr>
        <p:txBody>
          <a:bodyPr wrap="none" lIns="0" tIns="0" rIns="0" bIns="0" rtlCol="0" anchor="t"/>
          <a:lstStyle/>
          <a:p>
            <a:pPr marL="0" indent="0" algn="l">
              <a:lnSpc>
                <a:spcPct val="121000"/>
              </a:lnSpc>
              <a:buNone/>
            </a:pPr>
            <a:r>
              <a:rPr lang="en-US" sz="1100" kern="0" spc="110" dirty="0">
                <a:solidFill>
                  <a:srgbClr val="2A3A43"/>
                </a:solidFill>
                <a:latin typeface="Geist Mono Medium" pitchFamily="34" charset="0"/>
                <a:ea typeface="Geist Mono Medium" pitchFamily="34" charset="-122"/>
                <a:cs typeface="Geist Mono Medium" pitchFamily="34" charset="-120"/>
              </a:rPr>
              <a:t>DECISION TREES &amp; XGBOOST · CEAS-08 CORPUS · TF-IDF</a:t>
            </a:r>
            <a:endParaRPr lang="en-US" sz="1100" dirty="0"/>
          </a:p>
        </p:txBody>
      </p:sp>
      <p:sp>
        <p:nvSpPr>
          <p:cNvPr id="4" name="Shape 2"/>
          <p:cNvSpPr/>
          <p:nvPr/>
        </p:nvSpPr>
        <p:spPr>
          <a:xfrm>
            <a:off x="660383" y="3626247"/>
            <a:ext cx="3654334" cy="19050"/>
          </a:xfrm>
          <a:prstGeom prst="roundRect">
            <a:avLst>
              <a:gd name="adj" fmla="val 49999"/>
            </a:avLst>
          </a:prstGeom>
          <a:solidFill>
            <a:srgbClr val="C9D6DB"/>
          </a:solidFill>
          <a:ln/>
        </p:spPr>
      </p:sp>
      <p:sp>
        <p:nvSpPr>
          <p:cNvPr id="5" name="Text 3"/>
          <p:cNvSpPr/>
          <p:nvPr/>
        </p:nvSpPr>
        <p:spPr>
          <a:xfrm>
            <a:off x="660383" y="3848497"/>
            <a:ext cx="11074123"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TEAM MEMBERS:  </a:t>
            </a:r>
            <a:endParaRPr lang="en-US" sz="1100" dirty="0"/>
          </a:p>
        </p:txBody>
      </p:sp>
      <p:sp>
        <p:nvSpPr>
          <p:cNvPr id="6" name="Text 4"/>
          <p:cNvSpPr/>
          <p:nvPr/>
        </p:nvSpPr>
        <p:spPr>
          <a:xfrm>
            <a:off x="660383" y="4134842"/>
            <a:ext cx="4046371" cy="516136"/>
          </a:xfrm>
          <a:prstGeom prst="rect">
            <a:avLst/>
          </a:prstGeom>
          <a:noFill/>
          <a:ln/>
        </p:spPr>
        <p:txBody>
          <a:bodyPr wrap="square" lIns="0" tIns="0" rIns="0" bIns="0" rtlCol="0" anchor="t"/>
          <a:lstStyle/>
          <a:p>
            <a:pPr marL="0" indent="0" algn="l">
              <a:lnSpc>
                <a:spcPct val="113000"/>
              </a:lnSpc>
              <a:spcAft>
                <a:spcPts val="800"/>
              </a:spcAft>
              <a:buNone/>
            </a:pPr>
            <a:r>
              <a:rPr lang="en-US" sz="1200" dirty="0">
                <a:solidFill>
                  <a:srgbClr val="55656E"/>
                </a:solidFill>
                <a:latin typeface="Geist" pitchFamily="34" charset="0"/>
                <a:ea typeface="Geist" pitchFamily="34" charset="-122"/>
                <a:cs typeface="Geist" pitchFamily="34" charset="-120"/>
              </a:rPr>
              <a:t>2520030414  NAGABHYRAVA YISHNAANI</a:t>
            </a:r>
            <a:endParaRPr lang="en-US" sz="1200" dirty="0"/>
          </a:p>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2520030430  PRAGNYA </a:t>
            </a:r>
            <a:endParaRPr lang="en-US" sz="1200" dirty="0"/>
          </a:p>
        </p:txBody>
      </p:sp>
      <p:sp>
        <p:nvSpPr>
          <p:cNvPr id="8" name="Text 6"/>
          <p:cNvSpPr/>
          <p:nvPr/>
        </p:nvSpPr>
        <p:spPr>
          <a:xfrm>
            <a:off x="660384" y="5242123"/>
            <a:ext cx="5538285" cy="576218"/>
          </a:xfrm>
          <a:prstGeom prst="rect">
            <a:avLst/>
          </a:prstGeom>
          <a:noFill/>
          <a:ln/>
        </p:spPr>
        <p:txBody>
          <a:bodyPr wrap="none" lIns="0" tIns="0" rIns="0" bIns="0" rtlCol="0" anchor="t"/>
          <a:lstStyle/>
          <a:p>
            <a:pPr marL="0" indent="0" algn="l">
              <a:lnSpc>
                <a:spcPct val="113000"/>
              </a:lnSpc>
              <a:buNone/>
            </a:pPr>
            <a:r>
              <a:rPr lang="en-US" sz="1200" dirty="0">
                <a:solidFill>
                  <a:srgbClr val="2C2821"/>
                </a:solidFill>
                <a:latin typeface="Lora" pitchFamily="34" charset="0"/>
                <a:ea typeface="Lora" pitchFamily="34" charset="-122"/>
                <a:cs typeface="Lora" pitchFamily="34" charset="-120"/>
              </a:rPr>
              <a:t> </a:t>
            </a:r>
            <a:r>
              <a:rPr lang="en-US" sz="1200" b="1" dirty="0">
                <a:solidFill>
                  <a:srgbClr val="2C2821"/>
                </a:solidFill>
                <a:latin typeface="Lora Bold" pitchFamily="34" charset="0"/>
                <a:ea typeface="Lora Bold" pitchFamily="34" charset="-122"/>
                <a:cs typeface="Lora Bold" pitchFamily="34" charset="-120"/>
              </a:rPr>
              <a:t>Guide:</a:t>
            </a:r>
            <a:r>
              <a:rPr lang="en-US" sz="1200" dirty="0">
                <a:solidFill>
                  <a:srgbClr val="2C2821"/>
                </a:solidFill>
                <a:latin typeface="Lora" pitchFamily="34" charset="0"/>
                <a:ea typeface="Lora" pitchFamily="34" charset="-122"/>
                <a:cs typeface="Lora" pitchFamily="34" charset="-120"/>
              </a:rPr>
              <a:t> Shaik Asif, Assistant Professor, CSE Dept. — Academic Year: 2026–27 </a:t>
            </a:r>
            <a:endParaRPr lang="en-US" sz="1200" dirty="0"/>
          </a:p>
        </p:txBody>
      </p:sp>
      <p:pic>
        <p:nvPicPr>
          <p:cNvPr id="9" name="Picture 8">
            <a:extLst>
              <a:ext uri="{FF2B5EF4-FFF2-40B4-BE49-F238E27FC236}">
                <a16:creationId xmlns:a16="http://schemas.microsoft.com/office/drawing/2014/main" id="{0CEBDA60-288E-BAA5-5C24-0180F4170D6A}"/>
              </a:ext>
            </a:extLst>
          </p:cNvPr>
          <p:cNvPicPr>
            <a:picLocks noChangeAspect="1"/>
          </p:cNvPicPr>
          <p:nvPr/>
        </p:nvPicPr>
        <p:blipFill>
          <a:blip r:embed="rId3"/>
          <a:stretch>
            <a:fillRect/>
          </a:stretch>
        </p:blipFill>
        <p:spPr>
          <a:xfrm>
            <a:off x="10381626" y="6425362"/>
            <a:ext cx="1733639" cy="368319"/>
          </a:xfrm>
          <a:prstGeom prst="rect">
            <a:avLst/>
          </a:prstGeom>
        </p:spPr>
      </p:pic>
      <p:pic>
        <p:nvPicPr>
          <p:cNvPr id="4098" name="Picture 2" descr="Ham v Spam: what's the difference? | Barracuda Networks Blog">
            <a:extLst>
              <a:ext uri="{FF2B5EF4-FFF2-40B4-BE49-F238E27FC236}">
                <a16:creationId xmlns:a16="http://schemas.microsoft.com/office/drawing/2014/main" id="{64E758AF-CD76-0287-EE6A-90B650AEAA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5948" y="3133093"/>
            <a:ext cx="5131047" cy="26852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PROBLEM &amp; OBJECTIVE</a:t>
            </a:r>
            <a:endParaRPr lang="en-US" sz="1100" dirty="0"/>
          </a:p>
        </p:txBody>
      </p:sp>
      <p:sp>
        <p:nvSpPr>
          <p:cNvPr id="3" name="Text 1"/>
          <p:cNvSpPr/>
          <p:nvPr/>
        </p:nvSpPr>
        <p:spPr>
          <a:xfrm>
            <a:off x="603235" y="1108373"/>
            <a:ext cx="10972526" cy="932656"/>
          </a:xfrm>
          <a:prstGeom prst="rect">
            <a:avLst/>
          </a:prstGeom>
          <a:noFill/>
          <a:ln/>
        </p:spPr>
        <p:txBody>
          <a:bodyPr wrap="square" lIns="0" tIns="0" rIns="0" bIns="0" rtlCol="0" anchor="t">
            <a:normAutofit lnSpcReduction="10000"/>
          </a:bodyPr>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Machine learning can separate spam from legitimate email</a:t>
            </a:r>
            <a:endParaRPr lang="en-US" sz="3400" dirty="0"/>
          </a:p>
        </p:txBody>
      </p:sp>
      <p:sp>
        <p:nvSpPr>
          <p:cNvPr id="20" name="Text 18"/>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02</a:t>
            </a:r>
            <a:endParaRPr lang="en-US" sz="1050" dirty="0"/>
          </a:p>
        </p:txBody>
      </p:sp>
      <p:sp>
        <p:nvSpPr>
          <p:cNvPr id="23" name="TextBox 22">
            <a:extLst>
              <a:ext uri="{FF2B5EF4-FFF2-40B4-BE49-F238E27FC236}">
                <a16:creationId xmlns:a16="http://schemas.microsoft.com/office/drawing/2014/main" id="{EF86E249-034A-0FAE-58E5-C7BE2FE9E0DF}"/>
              </a:ext>
            </a:extLst>
          </p:cNvPr>
          <p:cNvSpPr txBox="1"/>
          <p:nvPr/>
        </p:nvSpPr>
        <p:spPr>
          <a:xfrm>
            <a:off x="609585" y="2156526"/>
            <a:ext cx="10528917" cy="401135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PROBLEM STATEMENT: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Spam and Legitimate emails are common threats to email users.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Manually identifying unwanted emails is inefficient.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Email content contains textual patterns that can be used for classification.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Machine learning can automatically classify emails as </a:t>
            </a:r>
            <a:r>
              <a:rPr kumimoji="0" lang="en-US" altLang="en-US" sz="1800" b="1" i="0" u="none" strike="noStrike" cap="none" normalizeH="0" baseline="0" dirty="0">
                <a:ln>
                  <a:noFill/>
                </a:ln>
                <a:solidFill>
                  <a:schemeClr val="tx1"/>
                </a:solidFill>
                <a:effectLst/>
                <a:latin typeface="Arial" panose="020B0604020202020204" pitchFamily="34" charset="0"/>
              </a:rPr>
              <a:t>Spam</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Legitimate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Objective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To develop and compare </a:t>
            </a:r>
            <a:r>
              <a:rPr kumimoji="0" lang="en-US" altLang="en-US" sz="1800" b="1" i="0" u="none" strike="noStrike" cap="none" normalizeH="0" baseline="0" dirty="0">
                <a:ln>
                  <a:noFill/>
                </a:ln>
                <a:solidFill>
                  <a:schemeClr val="tx1"/>
                </a:solidFill>
                <a:effectLst/>
                <a:latin typeface="Arial" panose="020B0604020202020204" pitchFamily="34" charset="0"/>
              </a:rPr>
              <a:t>Decision Tree and </a:t>
            </a:r>
            <a:r>
              <a:rPr kumimoji="0" lang="en-US" altLang="en-US" sz="1800" b="1"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models for spam email classification using the CEAS-08 dataset.</a:t>
            </a:r>
          </a:p>
        </p:txBody>
      </p:sp>
      <p:pic>
        <p:nvPicPr>
          <p:cNvPr id="26" name="Picture 25">
            <a:extLst>
              <a:ext uri="{FF2B5EF4-FFF2-40B4-BE49-F238E27FC236}">
                <a16:creationId xmlns:a16="http://schemas.microsoft.com/office/drawing/2014/main" id="{35B0F31D-C4E8-8763-A78D-B6D3123EAE30}"/>
              </a:ext>
            </a:extLst>
          </p:cNvPr>
          <p:cNvPicPr>
            <a:picLocks noChangeAspect="1"/>
          </p:cNvPicPr>
          <p:nvPr/>
        </p:nvPicPr>
        <p:blipFill>
          <a:blip r:embed="rId3"/>
          <a:stretch>
            <a:fillRect/>
          </a:stretch>
        </p:blipFill>
        <p:spPr>
          <a:xfrm>
            <a:off x="10381626" y="6425362"/>
            <a:ext cx="1733639" cy="3683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DATASET SPECIFICATION</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CEAS-08 provides the project’s labeled email corpus</a:t>
            </a:r>
            <a:endParaRPr lang="en-US" sz="3400" dirty="0"/>
          </a:p>
        </p:txBody>
      </p:sp>
      <p:sp>
        <p:nvSpPr>
          <p:cNvPr id="5" name="Text 3"/>
          <p:cNvSpPr/>
          <p:nvPr/>
        </p:nvSpPr>
        <p:spPr>
          <a:xfrm>
            <a:off x="682211" y="1652484"/>
            <a:ext cx="10718532"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SCHEMA DEFINITION &amp; SAMPLE STRUCTURE (CEAS_08.CSV)</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420625848"/>
              </p:ext>
            </p:extLst>
          </p:nvPr>
        </p:nvGraphicFramePr>
        <p:xfrm>
          <a:off x="682211" y="1938829"/>
          <a:ext cx="10718532" cy="3555710"/>
        </p:xfrm>
        <a:graphic>
          <a:graphicData uri="http://schemas.openxmlformats.org/drawingml/2006/table">
            <a:tbl>
              <a:tblPr/>
              <a:tblGrid>
                <a:gridCol w="1929336">
                  <a:extLst>
                    <a:ext uri="{9D8B030D-6E8A-4147-A177-3AD203B41FA5}">
                      <a16:colId xmlns:a16="http://schemas.microsoft.com/office/drawing/2014/main" val="20000"/>
                    </a:ext>
                  </a:extLst>
                </a:gridCol>
                <a:gridCol w="2358077">
                  <a:extLst>
                    <a:ext uri="{9D8B030D-6E8A-4147-A177-3AD203B41FA5}">
                      <a16:colId xmlns:a16="http://schemas.microsoft.com/office/drawing/2014/main" val="20001"/>
                    </a:ext>
                  </a:extLst>
                </a:gridCol>
                <a:gridCol w="6431119">
                  <a:extLst>
                    <a:ext uri="{9D8B030D-6E8A-4147-A177-3AD203B41FA5}">
                      <a16:colId xmlns:a16="http://schemas.microsoft.com/office/drawing/2014/main" val="20002"/>
                    </a:ext>
                  </a:extLst>
                </a:gridCol>
              </a:tblGrid>
              <a:tr h="312531">
                <a:tc>
                  <a:txBody>
                    <a:bodyPr/>
                    <a:lstStyle/>
                    <a:p>
                      <a:pPr marL="0" indent="0" algn="l">
                        <a:buNone/>
                      </a:pPr>
                      <a:r>
                        <a:rPr lang="en-US" sz="1050" kern="0" spc="84" dirty="0">
                          <a:solidFill>
                            <a:srgbClr val="0F1E26"/>
                          </a:solidFill>
                          <a:latin typeface="Geist" pitchFamily="34" charset="0"/>
                          <a:ea typeface="Geist" pitchFamily="34" charset="-122"/>
                          <a:cs typeface="Geist" pitchFamily="34" charset="-120"/>
                        </a:rPr>
                        <a:t>FIELD</a:t>
                      </a:r>
                      <a:endParaRPr lang="en-US" sz="1050" dirty="0">
                        <a:latin typeface="Geist" charset="0"/>
                        <a:ea typeface="Geist" charset="0"/>
                        <a:cs typeface="Geist" charset="0"/>
                      </a:endParaRPr>
                    </a:p>
                  </a:txBody>
                  <a:tcPr marL="100010" marR="100010" marT="53339" marB="53339"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050" kern="0" spc="84" dirty="0">
                          <a:solidFill>
                            <a:srgbClr val="0F1E26"/>
                          </a:solidFill>
                          <a:latin typeface="Geist" pitchFamily="34" charset="0"/>
                          <a:ea typeface="Geist" pitchFamily="34" charset="-122"/>
                          <a:cs typeface="Geist" pitchFamily="34" charset="-120"/>
                        </a:rPr>
                        <a:t>DATA FEATURES</a:t>
                      </a:r>
                      <a:endParaRPr lang="en-US" sz="1050" dirty="0">
                        <a:latin typeface="Geist" charset="0"/>
                        <a:ea typeface="Geist" charset="0"/>
                        <a:cs typeface="Geist" charset="0"/>
                      </a:endParaRPr>
                    </a:p>
                  </a:txBody>
                  <a:tcPr marL="100010" marR="100010" marT="53339" marB="53339"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050" kern="0" spc="84" dirty="0">
                          <a:solidFill>
                            <a:srgbClr val="0F1E26"/>
                          </a:solidFill>
                          <a:latin typeface="Geist" pitchFamily="34" charset="0"/>
                          <a:ea typeface="Geist" pitchFamily="34" charset="-122"/>
                          <a:cs typeface="Geist" pitchFamily="34" charset="-120"/>
                        </a:rPr>
                        <a:t>DESCRIPTION &amp; SAMPLE VALUE</a:t>
                      </a:r>
                      <a:endParaRPr lang="en-US" sz="1050" dirty="0">
                        <a:latin typeface="Geist" charset="0"/>
                        <a:ea typeface="Geist" charset="0"/>
                        <a:cs typeface="Geist" charset="0"/>
                      </a:endParaRPr>
                    </a:p>
                  </a:txBody>
                  <a:tcPr marL="100010" marR="100010" marT="53339" marB="53339"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0"/>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sender</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Text (Header)</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dirty="0">
                          <a:solidFill>
                            <a:srgbClr val="55656E"/>
                          </a:solidFill>
                          <a:latin typeface="Geist" pitchFamily="34" charset="0"/>
                          <a:ea typeface="Geist" pitchFamily="34" charset="-122"/>
                          <a:cs typeface="Geist" pitchFamily="34" charset="-120"/>
                        </a:rPr>
                        <a:t>Originating address or domain · "alerts@service-update.net"</a:t>
                      </a:r>
                      <a:endParaRPr lang="en-US" sz="12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1"/>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receiver</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Text (Header)</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dirty="0">
                          <a:solidFill>
                            <a:srgbClr val="55656E"/>
                          </a:solidFill>
                          <a:latin typeface="Geist" pitchFamily="34" charset="0"/>
                          <a:ea typeface="Geist" pitchFamily="34" charset="-122"/>
                          <a:cs typeface="Geist" pitchFamily="34" charset="-120"/>
                        </a:rPr>
                        <a:t>Recipient mailbox identifier · "user@organization.edu"</a:t>
                      </a:r>
                      <a:endParaRPr lang="en-US" sz="12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2"/>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date</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Timestamp</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dirty="0">
                          <a:solidFill>
                            <a:srgbClr val="55656E"/>
                          </a:solidFill>
                          <a:latin typeface="Geist" pitchFamily="34" charset="0"/>
                          <a:ea typeface="Geist" pitchFamily="34" charset="-122"/>
                          <a:cs typeface="Geist" pitchFamily="34" charset="-120"/>
                        </a:rPr>
                        <a:t>Transmission metadata · "Wed, 13 Aug 2008 09:14:22 -0400"</a:t>
                      </a:r>
                      <a:endParaRPr lang="en-US" sz="12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3"/>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subject</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Text (Primary)</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dirty="0">
                          <a:solidFill>
                            <a:srgbClr val="55656E"/>
                          </a:solidFill>
                          <a:latin typeface="Geist" pitchFamily="34" charset="0"/>
                          <a:ea typeface="Geist" pitchFamily="34" charset="-122"/>
                          <a:cs typeface="Geist" pitchFamily="34" charset="-120"/>
                        </a:rPr>
                        <a:t>Header subject line · "Urgent: Account verification required"</a:t>
                      </a:r>
                      <a:endParaRPr lang="en-US" sz="12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4"/>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body</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Text (Primary)</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dirty="0">
                          <a:solidFill>
                            <a:srgbClr val="55656E"/>
                          </a:solidFill>
                          <a:latin typeface="Geist" pitchFamily="34" charset="0"/>
                          <a:ea typeface="Geist" pitchFamily="34" charset="-122"/>
                          <a:cs typeface="Geist" pitchFamily="34" charset="-120"/>
                        </a:rPr>
                        <a:t>Full message body payload containing links and text</a:t>
                      </a:r>
                      <a:endParaRPr lang="en-US" sz="12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5"/>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label</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Binary Target</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0 or 1</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6"/>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url</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text url</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url information</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7"/>
                  </a:ext>
                </a:extLst>
              </a:tr>
              <a:tr h="399842">
                <a:tc>
                  <a:txBody>
                    <a:bodyPr/>
                    <a:lstStyle/>
                    <a:p>
                      <a:pPr marL="0" indent="0">
                        <a:buNone/>
                      </a:pP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buNone/>
                      </a:pP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buNone/>
                      </a:pP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 5"/>
          <p:cNvSpPr/>
          <p:nvPr/>
        </p:nvSpPr>
        <p:spPr>
          <a:xfrm>
            <a:off x="609585" y="6389191"/>
            <a:ext cx="11582110" cy="179983"/>
          </a:xfrm>
          <a:prstGeom prst="rect">
            <a:avLst/>
          </a:prstGeom>
          <a:noFill/>
          <a:ln/>
        </p:spPr>
        <p:txBody>
          <a:bodyPr wrap="none" lIns="0" tIns="0" rIns="0" bIns="0" rtlCol="0" anchor="t"/>
          <a:lstStyle/>
          <a:p>
            <a:pPr marL="0" indent="0" algn="l">
              <a:lnSpc>
                <a:spcPct val="113000"/>
              </a:lnSpc>
              <a:buNone/>
            </a:pPr>
            <a:r>
              <a:rPr lang="en-US" sz="1050" kern="0" spc="84" dirty="0">
                <a:solidFill>
                  <a:srgbClr val="55656E"/>
                </a:solidFill>
                <a:latin typeface="Geist Mono" pitchFamily="34" charset="0"/>
                <a:ea typeface="Geist Mono" pitchFamily="34" charset="-122"/>
                <a:cs typeface="Geist Mono" pitchFamily="34" charset="-120"/>
              </a:rPr>
              <a:t>SOURCE: CEAS-08 EMAIL DATASET · KAGGLE BENCHMARK CORPUS</a:t>
            </a:r>
            <a:endParaRPr lang="en-US" sz="1050" dirty="0"/>
          </a:p>
        </p:txBody>
      </p:sp>
      <p:sp>
        <p:nvSpPr>
          <p:cNvPr id="9" name="Text 6"/>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03</a:t>
            </a:r>
            <a:endParaRPr lang="en-US" sz="1050" dirty="0"/>
          </a:p>
        </p:txBody>
      </p:sp>
      <p:pic>
        <p:nvPicPr>
          <p:cNvPr id="10" name="Picture 9">
            <a:extLst>
              <a:ext uri="{FF2B5EF4-FFF2-40B4-BE49-F238E27FC236}">
                <a16:creationId xmlns:a16="http://schemas.microsoft.com/office/drawing/2014/main" id="{9B7639C9-4053-DC19-C179-5CCB9FEAC54A}"/>
              </a:ext>
            </a:extLst>
          </p:cNvPr>
          <p:cNvPicPr>
            <a:picLocks noChangeAspect="1"/>
          </p:cNvPicPr>
          <p:nvPr/>
        </p:nvPicPr>
        <p:blipFill>
          <a:blip r:embed="rId3"/>
          <a:stretch>
            <a:fillRect/>
          </a:stretch>
        </p:blipFill>
        <p:spPr>
          <a:xfrm>
            <a:off x="10381626" y="6425362"/>
            <a:ext cx="1733639" cy="3683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609585" y="475049"/>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Data Cleaning &amp; Preprocessing</a:t>
            </a:r>
            <a:endParaRPr lang="en-US" sz="3400" dirty="0"/>
          </a:p>
        </p:txBody>
      </p:sp>
      <p:sp>
        <p:nvSpPr>
          <p:cNvPr id="4" name="Text 2"/>
          <p:cNvSpPr/>
          <p:nvPr/>
        </p:nvSpPr>
        <p:spPr>
          <a:xfrm>
            <a:off x="609585" y="1262955"/>
            <a:ext cx="2768882" cy="466328"/>
          </a:xfrm>
          <a:prstGeom prst="rect">
            <a:avLst/>
          </a:prstGeom>
          <a:noFill/>
          <a:ln/>
        </p:spPr>
        <p:txBody>
          <a:bodyPr wrap="none" lIns="0" tIns="0" rIns="0" bIns="0" rtlCol="0" anchor="t"/>
          <a:lstStyle/>
          <a:p>
            <a:pPr marL="0" indent="0" algn="l">
              <a:lnSpc>
                <a:spcPct val="121000"/>
              </a:lnSpc>
              <a:buNone/>
            </a:pPr>
            <a:r>
              <a:rPr lang="en-US" sz="1200" dirty="0">
                <a:solidFill>
                  <a:srgbClr val="2A3A43"/>
                </a:solidFill>
                <a:latin typeface="Geist" pitchFamily="34" charset="0"/>
                <a:ea typeface="Geist" pitchFamily="34" charset="-122"/>
                <a:cs typeface="Geist" pitchFamily="34" charset="-120"/>
              </a:rPr>
              <a:t>Raw Email</a:t>
            </a:r>
            <a:endParaRPr lang="en-US" sz="1200" dirty="0"/>
          </a:p>
        </p:txBody>
      </p:sp>
      <p:sp>
        <p:nvSpPr>
          <p:cNvPr id="5" name="Text 3"/>
          <p:cNvSpPr/>
          <p:nvPr/>
        </p:nvSpPr>
        <p:spPr>
          <a:xfrm>
            <a:off x="609585" y="1686267"/>
            <a:ext cx="2768882" cy="4340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t>
            </a:r>
            <a:endParaRPr lang="en-US" sz="1200" dirty="0"/>
          </a:p>
        </p:txBody>
      </p:sp>
      <p:sp>
        <p:nvSpPr>
          <p:cNvPr id="6" name="Text 4"/>
          <p:cNvSpPr/>
          <p:nvPr/>
        </p:nvSpPr>
        <p:spPr>
          <a:xfrm>
            <a:off x="609585" y="2007096"/>
            <a:ext cx="2768882" cy="466328"/>
          </a:xfrm>
          <a:prstGeom prst="rect">
            <a:avLst/>
          </a:prstGeom>
          <a:noFill/>
          <a:ln/>
        </p:spPr>
        <p:txBody>
          <a:bodyPr wrap="none" lIns="0" tIns="0" rIns="0" bIns="0" rtlCol="0" anchor="t"/>
          <a:lstStyle/>
          <a:p>
            <a:pPr marL="0" indent="0" algn="l">
              <a:lnSpc>
                <a:spcPct val="121000"/>
              </a:lnSpc>
              <a:buNone/>
            </a:pPr>
            <a:r>
              <a:rPr lang="en-US" sz="1200" dirty="0">
                <a:solidFill>
                  <a:srgbClr val="2A3A43"/>
                </a:solidFill>
                <a:latin typeface="Geist" pitchFamily="34" charset="0"/>
                <a:ea typeface="Geist" pitchFamily="34" charset="-122"/>
                <a:cs typeface="Geist" pitchFamily="34" charset="-120"/>
              </a:rPr>
              <a:t>Handle Missing Values</a:t>
            </a:r>
            <a:endParaRPr lang="en-US" sz="1200" dirty="0"/>
          </a:p>
        </p:txBody>
      </p:sp>
      <p:sp>
        <p:nvSpPr>
          <p:cNvPr id="7" name="Text 5"/>
          <p:cNvSpPr/>
          <p:nvPr/>
        </p:nvSpPr>
        <p:spPr>
          <a:xfrm>
            <a:off x="609585" y="2403774"/>
            <a:ext cx="2768882" cy="4340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t>
            </a:r>
            <a:endParaRPr lang="en-US" sz="1200" dirty="0"/>
          </a:p>
        </p:txBody>
      </p:sp>
      <p:sp>
        <p:nvSpPr>
          <p:cNvPr id="8" name="Text 6"/>
          <p:cNvSpPr/>
          <p:nvPr/>
        </p:nvSpPr>
        <p:spPr>
          <a:xfrm>
            <a:off x="609585" y="2751237"/>
            <a:ext cx="2768882" cy="466328"/>
          </a:xfrm>
          <a:prstGeom prst="rect">
            <a:avLst/>
          </a:prstGeom>
          <a:noFill/>
          <a:ln/>
        </p:spPr>
        <p:txBody>
          <a:bodyPr wrap="none" lIns="0" tIns="0" rIns="0" bIns="0" rtlCol="0" anchor="t"/>
          <a:lstStyle/>
          <a:p>
            <a:pPr marL="0" indent="0" algn="l">
              <a:lnSpc>
                <a:spcPct val="121000"/>
              </a:lnSpc>
              <a:buNone/>
            </a:pPr>
            <a:r>
              <a:rPr lang="en-US" sz="1200" dirty="0">
                <a:solidFill>
                  <a:srgbClr val="2A3A43"/>
                </a:solidFill>
                <a:latin typeface="Geist" pitchFamily="34" charset="0"/>
                <a:ea typeface="Geist" pitchFamily="34" charset="-122"/>
                <a:cs typeface="Geist" pitchFamily="34" charset="-120"/>
              </a:rPr>
              <a:t>Remove Duplicates</a:t>
            </a:r>
            <a:endParaRPr lang="en-US" sz="1200" dirty="0"/>
          </a:p>
        </p:txBody>
      </p:sp>
      <p:sp>
        <p:nvSpPr>
          <p:cNvPr id="9" name="Text 7"/>
          <p:cNvSpPr/>
          <p:nvPr/>
        </p:nvSpPr>
        <p:spPr>
          <a:xfrm>
            <a:off x="609585" y="3147915"/>
            <a:ext cx="2768882" cy="4340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t>
            </a:r>
            <a:endParaRPr lang="en-US" sz="1200" dirty="0"/>
          </a:p>
        </p:txBody>
      </p:sp>
      <p:sp>
        <p:nvSpPr>
          <p:cNvPr id="10" name="Text 8"/>
          <p:cNvSpPr/>
          <p:nvPr/>
        </p:nvSpPr>
        <p:spPr>
          <a:xfrm>
            <a:off x="609585" y="3495377"/>
            <a:ext cx="2768882" cy="466328"/>
          </a:xfrm>
          <a:prstGeom prst="rect">
            <a:avLst/>
          </a:prstGeom>
          <a:noFill/>
          <a:ln/>
        </p:spPr>
        <p:txBody>
          <a:bodyPr wrap="none" lIns="0" tIns="0" rIns="0" bIns="0" rtlCol="0" anchor="t"/>
          <a:lstStyle/>
          <a:p>
            <a:pPr marL="0" indent="0" algn="l">
              <a:lnSpc>
                <a:spcPct val="121000"/>
              </a:lnSpc>
              <a:buNone/>
            </a:pPr>
            <a:r>
              <a:rPr lang="en-US" sz="1200" dirty="0">
                <a:solidFill>
                  <a:srgbClr val="2A3A43"/>
                </a:solidFill>
                <a:latin typeface="Geist" pitchFamily="34" charset="0"/>
                <a:ea typeface="Geist" pitchFamily="34" charset="-122"/>
                <a:cs typeface="Geist" pitchFamily="34" charset="-120"/>
              </a:rPr>
              <a:t>Clean HTML / URLs / Email IDs</a:t>
            </a:r>
            <a:endParaRPr lang="en-US" sz="1200" dirty="0"/>
          </a:p>
        </p:txBody>
      </p:sp>
      <p:sp>
        <p:nvSpPr>
          <p:cNvPr id="11" name="Text 9"/>
          <p:cNvSpPr/>
          <p:nvPr/>
        </p:nvSpPr>
        <p:spPr>
          <a:xfrm>
            <a:off x="609890" y="3905848"/>
            <a:ext cx="2768882" cy="4340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t>
            </a:r>
            <a:endParaRPr lang="en-US" sz="1200" dirty="0"/>
          </a:p>
        </p:txBody>
      </p:sp>
      <p:sp>
        <p:nvSpPr>
          <p:cNvPr id="12" name="Text 10"/>
          <p:cNvSpPr/>
          <p:nvPr/>
        </p:nvSpPr>
        <p:spPr>
          <a:xfrm>
            <a:off x="609585" y="4239518"/>
            <a:ext cx="2768882" cy="466328"/>
          </a:xfrm>
          <a:prstGeom prst="rect">
            <a:avLst/>
          </a:prstGeom>
          <a:noFill/>
          <a:ln/>
        </p:spPr>
        <p:txBody>
          <a:bodyPr wrap="none" lIns="0" tIns="0" rIns="0" bIns="0" rtlCol="0" anchor="t"/>
          <a:lstStyle/>
          <a:p>
            <a:pPr marL="0" indent="0" algn="l">
              <a:lnSpc>
                <a:spcPct val="121000"/>
              </a:lnSpc>
              <a:buNone/>
            </a:pPr>
            <a:r>
              <a:rPr lang="en-US" sz="1200" dirty="0">
                <a:solidFill>
                  <a:srgbClr val="2A3A43"/>
                </a:solidFill>
                <a:latin typeface="Geist" pitchFamily="34" charset="0"/>
                <a:ea typeface="Geist" pitchFamily="34" charset="-122"/>
                <a:cs typeface="Geist" pitchFamily="34" charset="-120"/>
              </a:rPr>
              <a:t>Convert to Lowercase</a:t>
            </a:r>
            <a:endParaRPr lang="en-US" sz="1200" dirty="0"/>
          </a:p>
        </p:txBody>
      </p:sp>
      <p:sp>
        <p:nvSpPr>
          <p:cNvPr id="13" name="Text 11"/>
          <p:cNvSpPr/>
          <p:nvPr/>
        </p:nvSpPr>
        <p:spPr>
          <a:xfrm>
            <a:off x="609585" y="4636196"/>
            <a:ext cx="2768882" cy="4340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t>
            </a:r>
            <a:endParaRPr lang="en-US" sz="1200" dirty="0"/>
          </a:p>
        </p:txBody>
      </p:sp>
      <p:sp>
        <p:nvSpPr>
          <p:cNvPr id="14" name="Text 12"/>
          <p:cNvSpPr/>
          <p:nvPr/>
        </p:nvSpPr>
        <p:spPr>
          <a:xfrm>
            <a:off x="609585" y="4983659"/>
            <a:ext cx="2768882" cy="466328"/>
          </a:xfrm>
          <a:prstGeom prst="rect">
            <a:avLst/>
          </a:prstGeom>
          <a:noFill/>
          <a:ln/>
        </p:spPr>
        <p:txBody>
          <a:bodyPr wrap="none" lIns="0" tIns="0" rIns="0" bIns="0" rtlCol="0" anchor="t"/>
          <a:lstStyle/>
          <a:p>
            <a:pPr marL="0" indent="0" algn="l">
              <a:lnSpc>
                <a:spcPct val="121000"/>
              </a:lnSpc>
              <a:buNone/>
            </a:pPr>
            <a:r>
              <a:rPr lang="en-US" sz="1200" dirty="0">
                <a:solidFill>
                  <a:srgbClr val="2A3A43"/>
                </a:solidFill>
                <a:latin typeface="Geist" pitchFamily="34" charset="0"/>
                <a:ea typeface="Geist" pitchFamily="34" charset="-122"/>
                <a:cs typeface="Geist" pitchFamily="34" charset="-120"/>
              </a:rPr>
              <a:t>Remove Unnecessary Characters</a:t>
            </a:r>
            <a:endParaRPr lang="en-US" sz="1200" dirty="0"/>
          </a:p>
        </p:txBody>
      </p:sp>
      <p:sp>
        <p:nvSpPr>
          <p:cNvPr id="15" name="Text 13"/>
          <p:cNvSpPr/>
          <p:nvPr/>
        </p:nvSpPr>
        <p:spPr>
          <a:xfrm>
            <a:off x="609585" y="5380337"/>
            <a:ext cx="2768882" cy="4340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t>
            </a:r>
            <a:endParaRPr lang="en-US" sz="1200" dirty="0"/>
          </a:p>
        </p:txBody>
      </p:sp>
      <p:sp>
        <p:nvSpPr>
          <p:cNvPr id="16" name="Text 14"/>
          <p:cNvSpPr/>
          <p:nvPr/>
        </p:nvSpPr>
        <p:spPr>
          <a:xfrm>
            <a:off x="602168" y="5814462"/>
            <a:ext cx="2595628" cy="821630"/>
          </a:xfrm>
          <a:prstGeom prst="rect">
            <a:avLst/>
          </a:prstGeom>
          <a:noFill/>
          <a:ln/>
        </p:spPr>
        <p:txBody>
          <a:bodyPr wrap="square" lIns="0" tIns="0" rIns="0" bIns="0" rtlCol="0" anchor="t"/>
          <a:lstStyle/>
          <a:p>
            <a:pPr marL="0" indent="0" algn="l">
              <a:lnSpc>
                <a:spcPct val="121000"/>
              </a:lnSpc>
              <a:spcAft>
                <a:spcPts val="1200"/>
              </a:spcAft>
              <a:buNone/>
            </a:pPr>
            <a:r>
              <a:rPr lang="en-US" sz="1200" dirty="0">
                <a:solidFill>
                  <a:srgbClr val="2A3A43"/>
                </a:solidFill>
                <a:latin typeface="Geist" pitchFamily="34" charset="0"/>
                <a:ea typeface="Geist" pitchFamily="34" charset="-122"/>
                <a:cs typeface="Geist" pitchFamily="34" charset="-120"/>
              </a:rPr>
              <a:t>Combine Subject + Body</a:t>
            </a:r>
            <a:endParaRPr lang="en-US" sz="1200" dirty="0"/>
          </a:p>
          <a:p>
            <a:pPr marL="0" indent="0" algn="l">
              <a:lnSpc>
                <a:spcPct val="121000"/>
              </a:lnSpc>
              <a:buNone/>
            </a:pPr>
            <a:r>
              <a:rPr lang="en-US" sz="1200" dirty="0">
                <a:solidFill>
                  <a:srgbClr val="2A3A43"/>
                </a:solidFill>
                <a:latin typeface="Geist" pitchFamily="34" charset="0"/>
                <a:ea typeface="Geist" pitchFamily="34" charset="-122"/>
                <a:cs typeface="Geist" pitchFamily="34" charset="-120"/>
              </a:rPr>
              <a:t>↓</a:t>
            </a:r>
            <a:endParaRPr lang="en-US" sz="1200" dirty="0"/>
          </a:p>
          <a:p>
            <a:pPr marL="0" indent="0" algn="l">
              <a:lnSpc>
                <a:spcPct val="121000"/>
              </a:lnSpc>
              <a:buNone/>
            </a:pPr>
            <a:r>
              <a:rPr lang="en-US" sz="1200" dirty="0">
                <a:solidFill>
                  <a:srgbClr val="2A3A43"/>
                </a:solidFill>
                <a:latin typeface="Geist" pitchFamily="34" charset="0"/>
                <a:ea typeface="Geist" pitchFamily="34" charset="-122"/>
                <a:cs typeface="Geist" pitchFamily="34" charset="-120"/>
              </a:rPr>
              <a:t>Clean Text</a:t>
            </a:r>
            <a:endParaRPr lang="en-US" sz="1200" dirty="0"/>
          </a:p>
        </p:txBody>
      </p:sp>
      <p:sp>
        <p:nvSpPr>
          <p:cNvPr id="17" name="Text 15"/>
          <p:cNvSpPr/>
          <p:nvPr/>
        </p:nvSpPr>
        <p:spPr>
          <a:xfrm>
            <a:off x="11400743" y="6241933"/>
            <a:ext cx="189089" cy="407906"/>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04</a:t>
            </a:r>
            <a:endParaRPr lang="en-US" sz="1050" dirty="0"/>
          </a:p>
        </p:txBody>
      </p:sp>
      <p:pic>
        <p:nvPicPr>
          <p:cNvPr id="19" name="Picture 18">
            <a:extLst>
              <a:ext uri="{FF2B5EF4-FFF2-40B4-BE49-F238E27FC236}">
                <a16:creationId xmlns:a16="http://schemas.microsoft.com/office/drawing/2014/main" id="{E6B86353-7882-09FF-08C8-3D7884A8CFB0}"/>
              </a:ext>
            </a:extLst>
          </p:cNvPr>
          <p:cNvPicPr>
            <a:picLocks noChangeAspect="1"/>
          </p:cNvPicPr>
          <p:nvPr/>
        </p:nvPicPr>
        <p:blipFill>
          <a:blip r:embed="rId3"/>
          <a:stretch>
            <a:fillRect/>
          </a:stretch>
        </p:blipFill>
        <p:spPr>
          <a:xfrm>
            <a:off x="9922336" y="6382951"/>
            <a:ext cx="2194957" cy="466328"/>
          </a:xfrm>
          <a:prstGeom prst="rect">
            <a:avLst/>
          </a:prstGeom>
        </p:spPr>
      </p:pic>
      <p:pic>
        <p:nvPicPr>
          <p:cNvPr id="21" name="Picture 20">
            <a:extLst>
              <a:ext uri="{FF2B5EF4-FFF2-40B4-BE49-F238E27FC236}">
                <a16:creationId xmlns:a16="http://schemas.microsoft.com/office/drawing/2014/main" id="{78C7A818-A09B-E8FA-4867-4A115EE9C6A6}"/>
              </a:ext>
            </a:extLst>
          </p:cNvPr>
          <p:cNvPicPr>
            <a:picLocks noChangeAspect="1"/>
          </p:cNvPicPr>
          <p:nvPr/>
        </p:nvPicPr>
        <p:blipFill>
          <a:blip r:embed="rId4"/>
          <a:stretch>
            <a:fillRect/>
          </a:stretch>
        </p:blipFill>
        <p:spPr>
          <a:xfrm>
            <a:off x="4055321" y="3905847"/>
            <a:ext cx="7068475" cy="2858149"/>
          </a:xfrm>
          <a:prstGeom prst="rect">
            <a:avLst/>
          </a:prstGeom>
        </p:spPr>
      </p:pic>
      <p:pic>
        <p:nvPicPr>
          <p:cNvPr id="25" name="Picture 24">
            <a:extLst>
              <a:ext uri="{FF2B5EF4-FFF2-40B4-BE49-F238E27FC236}">
                <a16:creationId xmlns:a16="http://schemas.microsoft.com/office/drawing/2014/main" id="{C7CC5F2A-7779-0152-0D37-F96FB28E610A}"/>
              </a:ext>
            </a:extLst>
          </p:cNvPr>
          <p:cNvPicPr>
            <a:picLocks noChangeAspect="1"/>
          </p:cNvPicPr>
          <p:nvPr/>
        </p:nvPicPr>
        <p:blipFill>
          <a:blip r:embed="rId5"/>
          <a:stretch>
            <a:fillRect/>
          </a:stretch>
        </p:blipFill>
        <p:spPr>
          <a:xfrm>
            <a:off x="4055321" y="1741315"/>
            <a:ext cx="6102664" cy="1943200"/>
          </a:xfrm>
          <a:prstGeom prst="rect">
            <a:avLst/>
          </a:prstGeom>
        </p:spPr>
      </p:pic>
      <p:sp>
        <p:nvSpPr>
          <p:cNvPr id="26" name="TextBox 25">
            <a:extLst>
              <a:ext uri="{FF2B5EF4-FFF2-40B4-BE49-F238E27FC236}">
                <a16:creationId xmlns:a16="http://schemas.microsoft.com/office/drawing/2014/main" id="{2CDA0BEB-D63A-78DB-3B47-17FF0D013FC0}"/>
              </a:ext>
            </a:extLst>
          </p:cNvPr>
          <p:cNvSpPr txBox="1"/>
          <p:nvPr/>
        </p:nvSpPr>
        <p:spPr>
          <a:xfrm>
            <a:off x="4055321" y="1174282"/>
            <a:ext cx="1806464" cy="369332"/>
          </a:xfrm>
          <a:prstGeom prst="rect">
            <a:avLst/>
          </a:prstGeom>
          <a:noFill/>
        </p:spPr>
        <p:txBody>
          <a:bodyPr wrap="square" rtlCol="0">
            <a:spAutoFit/>
          </a:bodyPr>
          <a:lstStyle/>
          <a:p>
            <a:r>
              <a:rPr lang="en-GB" dirty="0"/>
              <a:t>Before cleaning: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EXPLORATORY DATA ANALYSIS</a:t>
            </a:r>
            <a:endParaRPr lang="en-US" sz="1100" dirty="0"/>
          </a:p>
        </p:txBody>
      </p:sp>
      <p:sp>
        <p:nvSpPr>
          <p:cNvPr id="3" name="Text 1"/>
          <p:cNvSpPr/>
          <p:nvPr/>
        </p:nvSpPr>
        <p:spPr>
          <a:xfrm>
            <a:off x="596884" y="1054098"/>
            <a:ext cx="2901878" cy="355005"/>
          </a:xfrm>
          <a:prstGeom prst="rect">
            <a:avLst/>
          </a:prstGeom>
          <a:noFill/>
          <a:ln/>
        </p:spPr>
        <p:txBody>
          <a:bodyPr wrap="square" lIns="0" tIns="0" rIns="0" bIns="0" rtlCol="0" anchor="t">
            <a:normAutofit fontScale="85000" lnSpcReduction="20000"/>
          </a:bodyPr>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EDA REPORT</a:t>
            </a:r>
            <a:endParaRPr lang="en-US" sz="3400" dirty="0"/>
          </a:p>
        </p:txBody>
      </p:sp>
      <p:sp>
        <p:nvSpPr>
          <p:cNvPr id="5" name="Text 3"/>
          <p:cNvSpPr/>
          <p:nvPr/>
        </p:nvSpPr>
        <p:spPr>
          <a:xfrm>
            <a:off x="768331" y="2237580"/>
            <a:ext cx="2438339" cy="363141"/>
          </a:xfrm>
          <a:prstGeom prst="rect">
            <a:avLst/>
          </a:prstGeom>
          <a:noFill/>
          <a:ln/>
        </p:spPr>
        <p:txBody>
          <a:bodyPr wrap="square" lIns="0" tIns="0" rIns="0" bIns="0" rtlCol="0" anchor="t">
            <a:normAutofit/>
          </a:bodyPr>
          <a:lstStyle/>
          <a:p>
            <a:pPr marL="0" indent="0" algn="l">
              <a:lnSpc>
                <a:spcPct val="108000"/>
              </a:lnSpc>
              <a:buNone/>
            </a:pPr>
            <a:r>
              <a:rPr lang="en-US" sz="1100" kern="0" spc="88" dirty="0">
                <a:solidFill>
                  <a:srgbClr val="2A3A43"/>
                </a:solidFill>
                <a:latin typeface="Geist Mono Medium" pitchFamily="34" charset="0"/>
                <a:ea typeface="Geist Mono Medium" pitchFamily="34" charset="-122"/>
                <a:cs typeface="Geist Mono Medium" pitchFamily="34" charset="-120"/>
              </a:rPr>
              <a:t>PANEL 1 · CLASS DISTRIBUTION</a:t>
            </a:r>
            <a:endParaRPr lang="en-US" sz="1100" dirty="0"/>
          </a:p>
        </p:txBody>
      </p:sp>
      <p:sp>
        <p:nvSpPr>
          <p:cNvPr id="6" name="Text 4"/>
          <p:cNvSpPr/>
          <p:nvPr/>
        </p:nvSpPr>
        <p:spPr>
          <a:xfrm>
            <a:off x="768331" y="2664222"/>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2A3A43"/>
                </a:solidFill>
                <a:latin typeface="Geist SemiBold" pitchFamily="34" charset="0"/>
                <a:ea typeface="Geist SemiBold" pitchFamily="34" charset="-122"/>
                <a:cs typeface="Geist SemiBold" pitchFamily="34" charset="-120"/>
              </a:rPr>
              <a:t>Class distribution</a:t>
            </a:r>
            <a:endParaRPr lang="en-US" sz="1500" dirty="0"/>
          </a:p>
        </p:txBody>
      </p:sp>
      <p:sp>
        <p:nvSpPr>
          <p:cNvPr id="9" name="Text 7"/>
          <p:cNvSpPr/>
          <p:nvPr/>
        </p:nvSpPr>
        <p:spPr>
          <a:xfrm>
            <a:off x="3511463" y="2260658"/>
            <a:ext cx="2590735"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2A3A43"/>
                </a:solidFill>
                <a:latin typeface="Geist Mono Medium" pitchFamily="34" charset="0"/>
                <a:ea typeface="Geist Mono Medium" pitchFamily="34" charset="-122"/>
                <a:cs typeface="Geist Mono Medium" pitchFamily="34" charset="-120"/>
              </a:rPr>
              <a:t>PANEL 2 · EMAIL LENGTH</a:t>
            </a:r>
            <a:endParaRPr lang="en-US" sz="1100" dirty="0"/>
          </a:p>
        </p:txBody>
      </p:sp>
      <p:sp>
        <p:nvSpPr>
          <p:cNvPr id="10" name="Text 8"/>
          <p:cNvSpPr/>
          <p:nvPr/>
        </p:nvSpPr>
        <p:spPr>
          <a:xfrm>
            <a:off x="3498762" y="2577424"/>
            <a:ext cx="2438339" cy="45720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2A3A43"/>
                </a:solidFill>
                <a:latin typeface="Geist SemiBold" pitchFamily="34" charset="0"/>
                <a:ea typeface="Geist SemiBold" pitchFamily="34" charset="-122"/>
                <a:cs typeface="Geist SemiBold" pitchFamily="34" charset="-120"/>
              </a:rPr>
              <a:t>Email length and word count</a:t>
            </a:r>
            <a:endParaRPr lang="en-US" sz="1500" dirty="0"/>
          </a:p>
        </p:txBody>
      </p:sp>
      <p:sp>
        <p:nvSpPr>
          <p:cNvPr id="13" name="Text 11"/>
          <p:cNvSpPr/>
          <p:nvPr/>
        </p:nvSpPr>
        <p:spPr>
          <a:xfrm>
            <a:off x="6172046" y="2192951"/>
            <a:ext cx="2590735"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2A3A43"/>
                </a:solidFill>
                <a:latin typeface="Geist Mono Medium" pitchFamily="34" charset="0"/>
                <a:ea typeface="Geist Mono Medium" pitchFamily="34" charset="-122"/>
                <a:cs typeface="Geist Mono Medium" pitchFamily="34" charset="-120"/>
              </a:rPr>
              <a:t>PANEL 3 · URL COUNTS</a:t>
            </a:r>
            <a:endParaRPr lang="en-US" sz="1100" dirty="0"/>
          </a:p>
        </p:txBody>
      </p:sp>
      <p:sp>
        <p:nvSpPr>
          <p:cNvPr id="14" name="Text 12"/>
          <p:cNvSpPr/>
          <p:nvPr/>
        </p:nvSpPr>
        <p:spPr>
          <a:xfrm>
            <a:off x="6254595" y="2576136"/>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2A3A43"/>
                </a:solidFill>
                <a:latin typeface="Geist SemiBold" pitchFamily="34" charset="0"/>
                <a:ea typeface="Geist SemiBold" pitchFamily="34" charset="-122"/>
                <a:cs typeface="Geist SemiBold" pitchFamily="34" charset="-120"/>
              </a:rPr>
              <a:t>URL counts</a:t>
            </a:r>
            <a:endParaRPr lang="en-US" sz="1500" dirty="0"/>
          </a:p>
        </p:txBody>
      </p:sp>
      <p:sp>
        <p:nvSpPr>
          <p:cNvPr id="17" name="Text 15"/>
          <p:cNvSpPr/>
          <p:nvPr/>
        </p:nvSpPr>
        <p:spPr>
          <a:xfrm>
            <a:off x="8915177" y="2214719"/>
            <a:ext cx="2590735"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2A3A43"/>
                </a:solidFill>
                <a:latin typeface="Geist Mono Medium" pitchFamily="34" charset="0"/>
                <a:ea typeface="Geist Mono Medium" pitchFamily="34" charset="-122"/>
                <a:cs typeface="Geist Mono Medium" pitchFamily="34" charset="-120"/>
              </a:rPr>
              <a:t>PANEL 4 · SUBJECT LENGTH</a:t>
            </a:r>
            <a:endParaRPr lang="en-US" sz="1100" dirty="0"/>
          </a:p>
        </p:txBody>
      </p:sp>
      <p:sp>
        <p:nvSpPr>
          <p:cNvPr id="18" name="Text 16"/>
          <p:cNvSpPr/>
          <p:nvPr/>
        </p:nvSpPr>
        <p:spPr>
          <a:xfrm>
            <a:off x="8908827" y="2522056"/>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2A3A43"/>
                </a:solidFill>
                <a:latin typeface="Geist SemiBold" pitchFamily="34" charset="0"/>
                <a:ea typeface="Geist SemiBold" pitchFamily="34" charset="-122"/>
                <a:cs typeface="Geist SemiBold" pitchFamily="34" charset="-120"/>
              </a:rPr>
              <a:t>Subject length</a:t>
            </a:r>
            <a:endParaRPr lang="en-US" sz="1500" dirty="0"/>
          </a:p>
        </p:txBody>
      </p:sp>
      <p:sp>
        <p:nvSpPr>
          <p:cNvPr id="20" name="Shape 18"/>
          <p:cNvSpPr/>
          <p:nvPr/>
        </p:nvSpPr>
        <p:spPr>
          <a:xfrm>
            <a:off x="3346366" y="1974652"/>
            <a:ext cx="12700" cy="4273748"/>
          </a:xfrm>
          <a:prstGeom prst="rect">
            <a:avLst/>
          </a:prstGeom>
          <a:solidFill>
            <a:srgbClr val="C9D6DB"/>
          </a:solidFill>
          <a:ln/>
        </p:spPr>
      </p:sp>
      <p:sp>
        <p:nvSpPr>
          <p:cNvPr id="21" name="Shape 19"/>
          <p:cNvSpPr/>
          <p:nvPr/>
        </p:nvSpPr>
        <p:spPr>
          <a:xfrm>
            <a:off x="6089498" y="1974652"/>
            <a:ext cx="12700" cy="4273748"/>
          </a:xfrm>
          <a:prstGeom prst="rect">
            <a:avLst/>
          </a:prstGeom>
          <a:solidFill>
            <a:srgbClr val="C9D6DB"/>
          </a:solidFill>
          <a:ln/>
        </p:spPr>
      </p:sp>
      <p:sp>
        <p:nvSpPr>
          <p:cNvPr id="22" name="Shape 20"/>
          <p:cNvSpPr/>
          <p:nvPr/>
        </p:nvSpPr>
        <p:spPr>
          <a:xfrm>
            <a:off x="8832629" y="1974652"/>
            <a:ext cx="12700" cy="4273748"/>
          </a:xfrm>
          <a:prstGeom prst="rect">
            <a:avLst/>
          </a:prstGeom>
          <a:solidFill>
            <a:srgbClr val="C9D6DB"/>
          </a:solidFill>
          <a:ln/>
        </p:spPr>
      </p:sp>
      <p:sp>
        <p:nvSpPr>
          <p:cNvPr id="23" name="Text 21"/>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05</a:t>
            </a:r>
            <a:endParaRPr lang="en-US" sz="1050" dirty="0"/>
          </a:p>
        </p:txBody>
      </p:sp>
      <p:pic>
        <p:nvPicPr>
          <p:cNvPr id="3074" name="Picture 2">
            <a:extLst>
              <a:ext uri="{FF2B5EF4-FFF2-40B4-BE49-F238E27FC236}">
                <a16:creationId xmlns:a16="http://schemas.microsoft.com/office/drawing/2014/main" id="{922A1C98-1467-D645-1F8C-0E4A31E35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43" y="3168503"/>
            <a:ext cx="3263575" cy="24155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132E253E-285F-61CD-F94E-D8D190E2CC3D}"/>
              </a:ext>
            </a:extLst>
          </p:cNvPr>
          <p:cNvPicPr>
            <a:picLocks noChangeAspect="1"/>
          </p:cNvPicPr>
          <p:nvPr/>
        </p:nvPicPr>
        <p:blipFill>
          <a:blip r:embed="rId4"/>
          <a:stretch>
            <a:fillRect/>
          </a:stretch>
        </p:blipFill>
        <p:spPr>
          <a:xfrm>
            <a:off x="3498761" y="3336786"/>
            <a:ext cx="2479682" cy="2030344"/>
          </a:xfrm>
          <a:prstGeom prst="rect">
            <a:avLst/>
          </a:prstGeom>
        </p:spPr>
      </p:pic>
      <p:pic>
        <p:nvPicPr>
          <p:cNvPr id="27" name="Picture 26">
            <a:extLst>
              <a:ext uri="{FF2B5EF4-FFF2-40B4-BE49-F238E27FC236}">
                <a16:creationId xmlns:a16="http://schemas.microsoft.com/office/drawing/2014/main" id="{CB529660-A638-F11F-469C-22550961E2C5}"/>
              </a:ext>
            </a:extLst>
          </p:cNvPr>
          <p:cNvPicPr>
            <a:picLocks noChangeAspect="1"/>
          </p:cNvPicPr>
          <p:nvPr/>
        </p:nvPicPr>
        <p:blipFill>
          <a:blip r:embed="rId5"/>
          <a:stretch>
            <a:fillRect/>
          </a:stretch>
        </p:blipFill>
        <p:spPr>
          <a:xfrm>
            <a:off x="6213253" y="3429000"/>
            <a:ext cx="2412939" cy="1787433"/>
          </a:xfrm>
          <a:prstGeom prst="rect">
            <a:avLst/>
          </a:prstGeom>
        </p:spPr>
      </p:pic>
      <p:pic>
        <p:nvPicPr>
          <p:cNvPr id="3076" name="Picture 4">
            <a:extLst>
              <a:ext uri="{FF2B5EF4-FFF2-40B4-BE49-F238E27FC236}">
                <a16:creationId xmlns:a16="http://schemas.microsoft.com/office/drawing/2014/main" id="{7A7BFD3D-34DE-A054-44F7-FCAC878C37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08827" y="3288846"/>
            <a:ext cx="3027052" cy="222140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50D039BB-4CB9-3EBF-5D98-B54122E3695B}"/>
              </a:ext>
            </a:extLst>
          </p:cNvPr>
          <p:cNvPicPr>
            <a:picLocks noChangeAspect="1"/>
          </p:cNvPicPr>
          <p:nvPr/>
        </p:nvPicPr>
        <p:blipFill>
          <a:blip r:embed="rId7"/>
          <a:stretch>
            <a:fillRect/>
          </a:stretch>
        </p:blipFill>
        <p:spPr>
          <a:xfrm>
            <a:off x="10381626" y="6425362"/>
            <a:ext cx="1733639" cy="3683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1186855"/>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FEATURE ENGINEERING</a:t>
            </a:r>
            <a:endParaRPr lang="en-US" sz="1100" dirty="0"/>
          </a:p>
        </p:txBody>
      </p:sp>
      <p:sp>
        <p:nvSpPr>
          <p:cNvPr id="3" name="Text 1"/>
          <p:cNvSpPr/>
          <p:nvPr/>
        </p:nvSpPr>
        <p:spPr>
          <a:xfrm>
            <a:off x="609585" y="1441450"/>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TF-IDF turns email language into model-ready features</a:t>
            </a:r>
            <a:endParaRPr lang="en-US" sz="3400" dirty="0"/>
          </a:p>
        </p:txBody>
      </p:sp>
      <p:sp>
        <p:nvSpPr>
          <p:cNvPr id="4" name="Text 2"/>
          <p:cNvSpPr/>
          <p:nvPr/>
        </p:nvSpPr>
        <p:spPr>
          <a:xfrm>
            <a:off x="609585" y="2085578"/>
            <a:ext cx="11582110" cy="257770"/>
          </a:xfrm>
          <a:prstGeom prst="rect">
            <a:avLst/>
          </a:prstGeom>
          <a:noFill/>
          <a:ln/>
        </p:spPr>
        <p:txBody>
          <a:bodyPr wrap="none" lIns="0" tIns="0" rIns="0" bIns="0" rtlCol="0" anchor="t"/>
          <a:lstStyle/>
          <a:p>
            <a:pPr marL="0" indent="0" algn="l">
              <a:lnSpc>
                <a:spcPct val="121000"/>
              </a:lnSpc>
              <a:buNone/>
            </a:pPr>
            <a:r>
              <a:rPr lang="en-GB" sz="1400" dirty="0"/>
              <a:t>TF-IDF converts email text into numerical feature vectors based on the importance of words within the emails.</a:t>
            </a:r>
            <a:endParaRPr lang="en-US" sz="1400" dirty="0"/>
          </a:p>
        </p:txBody>
      </p:sp>
      <p:sp>
        <p:nvSpPr>
          <p:cNvPr id="5" name="Text 3"/>
          <p:cNvSpPr/>
          <p:nvPr/>
        </p:nvSpPr>
        <p:spPr>
          <a:xfrm>
            <a:off x="609585" y="2502098"/>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TRANSFORMATION</a:t>
            </a:r>
            <a:endParaRPr lang="en-US" sz="1100" dirty="0"/>
          </a:p>
        </p:txBody>
      </p:sp>
      <p:sp>
        <p:nvSpPr>
          <p:cNvPr id="16" name="Text 13"/>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06</a:t>
            </a:r>
            <a:endParaRPr lang="en-US" sz="1050" dirty="0"/>
          </a:p>
        </p:txBody>
      </p:sp>
      <p:pic>
        <p:nvPicPr>
          <p:cNvPr id="18" name="Picture 17">
            <a:extLst>
              <a:ext uri="{FF2B5EF4-FFF2-40B4-BE49-F238E27FC236}">
                <a16:creationId xmlns:a16="http://schemas.microsoft.com/office/drawing/2014/main" id="{F3355026-A070-B18F-E855-1D1C0AC08ABB}"/>
              </a:ext>
            </a:extLst>
          </p:cNvPr>
          <p:cNvPicPr>
            <a:picLocks noChangeAspect="1"/>
          </p:cNvPicPr>
          <p:nvPr/>
        </p:nvPicPr>
        <p:blipFill>
          <a:blip r:embed="rId3"/>
          <a:stretch>
            <a:fillRect/>
          </a:stretch>
        </p:blipFill>
        <p:spPr>
          <a:xfrm>
            <a:off x="577620" y="2982637"/>
            <a:ext cx="2731279" cy="2607130"/>
          </a:xfrm>
          <a:prstGeom prst="rect">
            <a:avLst/>
          </a:prstGeom>
        </p:spPr>
      </p:pic>
      <p:sp>
        <p:nvSpPr>
          <p:cNvPr id="19" name="TextBox 18">
            <a:extLst>
              <a:ext uri="{FF2B5EF4-FFF2-40B4-BE49-F238E27FC236}">
                <a16:creationId xmlns:a16="http://schemas.microsoft.com/office/drawing/2014/main" id="{B6E612EE-FBF7-E07B-8678-3B879CDFC256}"/>
              </a:ext>
            </a:extLst>
          </p:cNvPr>
          <p:cNvSpPr txBox="1"/>
          <p:nvPr/>
        </p:nvSpPr>
        <p:spPr>
          <a:xfrm>
            <a:off x="4150581" y="2889409"/>
            <a:ext cx="7431530" cy="2454775"/>
          </a:xfrm>
          <a:prstGeom prst="rect">
            <a:avLst/>
          </a:prstGeom>
          <a:noFill/>
        </p:spPr>
        <p:txBody>
          <a:bodyPr wrap="square" rtlCol="0">
            <a:spAutoFit/>
          </a:bodyPr>
          <a:lstStyle/>
          <a:p>
            <a:r>
              <a:rPr lang="en-GB" b="1" dirty="0"/>
              <a:t>TF-IDF Feature Extraction</a:t>
            </a:r>
          </a:p>
          <a:p>
            <a:endParaRPr lang="en-GB" b="1" dirty="0"/>
          </a:p>
          <a:p>
            <a:pPr>
              <a:lnSpc>
                <a:spcPct val="150000"/>
              </a:lnSpc>
            </a:pPr>
            <a:r>
              <a:rPr lang="en-GB" sz="1600" dirty="0"/>
              <a:t>1) TF-IDF converts email text into numerical features that can be understood by machine learning models.</a:t>
            </a:r>
            <a:br>
              <a:rPr lang="en-GB" sz="1600" dirty="0"/>
            </a:br>
            <a:r>
              <a:rPr lang="en-GB" sz="1600" dirty="0"/>
              <a:t>2) It uses </a:t>
            </a:r>
            <a:r>
              <a:rPr lang="en-GB" sz="1600" b="1" dirty="0"/>
              <a:t>unigrams and bigrams</a:t>
            </a:r>
            <a:r>
              <a:rPr lang="en-GB" sz="1600" dirty="0"/>
              <a:t>, removes common English stop words, and keeps up to </a:t>
            </a:r>
            <a:r>
              <a:rPr lang="en-GB" sz="1600" b="1" dirty="0"/>
              <a:t>10,000 features</a:t>
            </a:r>
            <a:r>
              <a:rPr lang="en-GB" sz="1600" dirty="0"/>
              <a:t>.</a:t>
            </a:r>
            <a:br>
              <a:rPr lang="en-GB" sz="1600" dirty="0"/>
            </a:br>
            <a:r>
              <a:rPr lang="en-GB" sz="1600" dirty="0"/>
              <a:t>This helps the models identify important words and phrases related to spam emails.</a:t>
            </a:r>
          </a:p>
        </p:txBody>
      </p:sp>
      <p:pic>
        <p:nvPicPr>
          <p:cNvPr id="21" name="Picture 20">
            <a:extLst>
              <a:ext uri="{FF2B5EF4-FFF2-40B4-BE49-F238E27FC236}">
                <a16:creationId xmlns:a16="http://schemas.microsoft.com/office/drawing/2014/main" id="{4A30C197-A6F5-52E1-8A25-AB1762EF7B26}"/>
              </a:ext>
            </a:extLst>
          </p:cNvPr>
          <p:cNvPicPr>
            <a:picLocks noChangeAspect="1"/>
          </p:cNvPicPr>
          <p:nvPr/>
        </p:nvPicPr>
        <p:blipFill>
          <a:blip r:embed="rId4"/>
          <a:stretch>
            <a:fillRect/>
          </a:stretch>
        </p:blipFill>
        <p:spPr>
          <a:xfrm>
            <a:off x="4279190" y="5589767"/>
            <a:ext cx="4387732" cy="672082"/>
          </a:xfrm>
          <a:prstGeom prst="rect">
            <a:avLst/>
          </a:prstGeom>
        </p:spPr>
      </p:pic>
      <p:pic>
        <p:nvPicPr>
          <p:cNvPr id="22" name="Picture 21">
            <a:extLst>
              <a:ext uri="{FF2B5EF4-FFF2-40B4-BE49-F238E27FC236}">
                <a16:creationId xmlns:a16="http://schemas.microsoft.com/office/drawing/2014/main" id="{C88C71CB-2791-EEA5-1405-D0AF4AEF3EB1}"/>
              </a:ext>
            </a:extLst>
          </p:cNvPr>
          <p:cNvPicPr>
            <a:picLocks noChangeAspect="1"/>
          </p:cNvPicPr>
          <p:nvPr/>
        </p:nvPicPr>
        <p:blipFill>
          <a:blip r:embed="rId5"/>
          <a:stretch>
            <a:fillRect/>
          </a:stretch>
        </p:blipFill>
        <p:spPr>
          <a:xfrm>
            <a:off x="10381626" y="6425362"/>
            <a:ext cx="1733639" cy="3683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SYSTEM ARCHITECTURE</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The full pipeline keeps comparison fair</a:t>
            </a:r>
            <a:endParaRPr lang="en-US" sz="3400" dirty="0"/>
          </a:p>
        </p:txBody>
      </p:sp>
      <p:sp>
        <p:nvSpPr>
          <p:cNvPr id="4" name="Shape 2"/>
          <p:cNvSpPr/>
          <p:nvPr/>
        </p:nvSpPr>
        <p:spPr>
          <a:xfrm>
            <a:off x="609585" y="1508323"/>
            <a:ext cx="5333867" cy="726380"/>
          </a:xfrm>
          <a:custGeom>
            <a:avLst/>
            <a:gdLst/>
            <a:ahLst/>
            <a:cxnLst/>
            <a:rect l="l" t="t" r="r" b="b"/>
            <a:pathLst>
              <a:path w="5333867" h="726380">
                <a:moveTo>
                  <a:pt x="9525" y="0"/>
                </a:moveTo>
                <a:lnTo>
                  <a:pt x="5324342" y="0"/>
                </a:lnTo>
                <a:arcTo wR="9525" hR="9525" stAng="16200000" swAng="5400000"/>
                <a:lnTo>
                  <a:pt x="5333867" y="726380"/>
                </a:lnTo>
                <a:lnTo>
                  <a:pt x="0" y="726380"/>
                </a:lnTo>
                <a:lnTo>
                  <a:pt x="0" y="9525"/>
                </a:lnTo>
                <a:arcTo wR="9525" hR="9525" stAng="10800000" swAng="5400000"/>
                <a:close/>
              </a:path>
            </a:pathLst>
          </a:custGeom>
          <a:solidFill>
            <a:srgbClr val="E3ECEF"/>
          </a:solidFill>
          <a:ln/>
        </p:spPr>
      </p:sp>
      <p:sp>
        <p:nvSpPr>
          <p:cNvPr id="5" name="Text 3"/>
          <p:cNvSpPr/>
          <p:nvPr/>
        </p:nvSpPr>
        <p:spPr>
          <a:xfrm>
            <a:off x="838179" y="1757660"/>
            <a:ext cx="805239" cy="177800"/>
          </a:xfrm>
          <a:prstGeom prst="rect">
            <a:avLst/>
          </a:prstGeom>
          <a:noFill/>
          <a:ln/>
        </p:spPr>
        <p:txBody>
          <a:bodyPr wrap="none" lIns="0" tIns="0" rIns="0" bIns="0" rtlCol="0" anchor="t"/>
          <a:lstStyle/>
          <a:p>
            <a:pPr marL="0" indent="0" algn="l">
              <a:lnSpc>
                <a:spcPct val="83000"/>
              </a:lnSpc>
              <a:buNone/>
            </a:pPr>
            <a:r>
              <a:rPr lang="en-US" sz="1400" dirty="0">
                <a:solidFill>
                  <a:srgbClr val="2A3A43"/>
                </a:solidFill>
                <a:latin typeface="Geist SemiBold" pitchFamily="34" charset="0"/>
                <a:ea typeface="Geist SemiBold" pitchFamily="34" charset="-122"/>
                <a:cs typeface="Geist SemiBold" pitchFamily="34" charset="-120"/>
              </a:rPr>
              <a:t>01</a:t>
            </a:r>
            <a:endParaRPr lang="en-US" sz="1400" dirty="0"/>
          </a:p>
        </p:txBody>
      </p:sp>
      <p:sp>
        <p:nvSpPr>
          <p:cNvPr id="6" name="Text 4"/>
          <p:cNvSpPr/>
          <p:nvPr/>
        </p:nvSpPr>
        <p:spPr>
          <a:xfrm>
            <a:off x="1211629" y="1736923"/>
            <a:ext cx="4503228"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CEAS-08 Dataset</a:t>
            </a:r>
            <a:endParaRPr lang="en-US" sz="1600" dirty="0"/>
          </a:p>
        </p:txBody>
      </p:sp>
      <p:sp>
        <p:nvSpPr>
          <p:cNvPr id="7" name="Shape 5"/>
          <p:cNvSpPr/>
          <p:nvPr/>
        </p:nvSpPr>
        <p:spPr>
          <a:xfrm>
            <a:off x="609585" y="2234704"/>
            <a:ext cx="5333867" cy="726380"/>
          </a:xfrm>
          <a:prstGeom prst="rect">
            <a:avLst/>
          </a:prstGeom>
          <a:solidFill>
            <a:srgbClr val="E3ECEF"/>
          </a:solidFill>
          <a:ln/>
        </p:spPr>
      </p:sp>
      <p:sp>
        <p:nvSpPr>
          <p:cNvPr id="8" name="Text 6"/>
          <p:cNvSpPr/>
          <p:nvPr/>
        </p:nvSpPr>
        <p:spPr>
          <a:xfrm>
            <a:off x="838179" y="2484041"/>
            <a:ext cx="845223" cy="177800"/>
          </a:xfrm>
          <a:prstGeom prst="rect">
            <a:avLst/>
          </a:prstGeom>
          <a:noFill/>
          <a:ln/>
        </p:spPr>
        <p:txBody>
          <a:bodyPr wrap="none" lIns="0" tIns="0" rIns="0" bIns="0" rtlCol="0" anchor="t"/>
          <a:lstStyle/>
          <a:p>
            <a:pPr marL="0" indent="0" algn="l">
              <a:lnSpc>
                <a:spcPct val="83000"/>
              </a:lnSpc>
              <a:buNone/>
            </a:pPr>
            <a:r>
              <a:rPr lang="en-US" sz="1400" dirty="0">
                <a:solidFill>
                  <a:srgbClr val="2A3A43"/>
                </a:solidFill>
                <a:latin typeface="Geist SemiBold" pitchFamily="34" charset="0"/>
                <a:ea typeface="Geist SemiBold" pitchFamily="34" charset="-122"/>
                <a:cs typeface="Geist SemiBold" pitchFamily="34" charset="-120"/>
              </a:rPr>
              <a:t>02</a:t>
            </a:r>
            <a:endParaRPr lang="en-US" sz="1400" dirty="0"/>
          </a:p>
        </p:txBody>
      </p:sp>
      <p:sp>
        <p:nvSpPr>
          <p:cNvPr id="9" name="Text 7"/>
          <p:cNvSpPr/>
          <p:nvPr/>
        </p:nvSpPr>
        <p:spPr>
          <a:xfrm>
            <a:off x="1251613" y="2463304"/>
            <a:ext cx="4463244"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Data Cleaning</a:t>
            </a:r>
            <a:endParaRPr lang="en-US" sz="1600" dirty="0"/>
          </a:p>
        </p:txBody>
      </p:sp>
      <p:sp>
        <p:nvSpPr>
          <p:cNvPr id="10" name="Shape 8"/>
          <p:cNvSpPr/>
          <p:nvPr/>
        </p:nvSpPr>
        <p:spPr>
          <a:xfrm>
            <a:off x="609585" y="2961084"/>
            <a:ext cx="5333867" cy="726380"/>
          </a:xfrm>
          <a:prstGeom prst="rect">
            <a:avLst/>
          </a:prstGeom>
          <a:solidFill>
            <a:srgbClr val="E3ECEF"/>
          </a:solidFill>
          <a:ln/>
        </p:spPr>
      </p:sp>
      <p:sp>
        <p:nvSpPr>
          <p:cNvPr id="11" name="Text 9"/>
          <p:cNvSpPr/>
          <p:nvPr/>
        </p:nvSpPr>
        <p:spPr>
          <a:xfrm>
            <a:off x="838179" y="3210421"/>
            <a:ext cx="844330" cy="177800"/>
          </a:xfrm>
          <a:prstGeom prst="rect">
            <a:avLst/>
          </a:prstGeom>
          <a:noFill/>
          <a:ln/>
        </p:spPr>
        <p:txBody>
          <a:bodyPr wrap="none" lIns="0" tIns="0" rIns="0" bIns="0" rtlCol="0" anchor="t"/>
          <a:lstStyle/>
          <a:p>
            <a:pPr marL="0" indent="0" algn="l">
              <a:lnSpc>
                <a:spcPct val="83000"/>
              </a:lnSpc>
              <a:buNone/>
            </a:pPr>
            <a:r>
              <a:rPr lang="en-US" sz="1400" dirty="0">
                <a:solidFill>
                  <a:srgbClr val="2A3A43"/>
                </a:solidFill>
                <a:latin typeface="Geist SemiBold" pitchFamily="34" charset="0"/>
                <a:ea typeface="Geist SemiBold" pitchFamily="34" charset="-122"/>
                <a:cs typeface="Geist SemiBold" pitchFamily="34" charset="-120"/>
              </a:rPr>
              <a:t>03</a:t>
            </a:r>
            <a:endParaRPr lang="en-US" sz="1400" dirty="0"/>
          </a:p>
        </p:txBody>
      </p:sp>
      <p:sp>
        <p:nvSpPr>
          <p:cNvPr id="12" name="Text 10"/>
          <p:cNvSpPr/>
          <p:nvPr/>
        </p:nvSpPr>
        <p:spPr>
          <a:xfrm>
            <a:off x="1250720" y="3189684"/>
            <a:ext cx="4464137"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Exploratory Data Analysis</a:t>
            </a:r>
            <a:endParaRPr lang="en-US" sz="1600" dirty="0"/>
          </a:p>
        </p:txBody>
      </p:sp>
      <p:sp>
        <p:nvSpPr>
          <p:cNvPr id="13" name="Shape 11"/>
          <p:cNvSpPr/>
          <p:nvPr/>
        </p:nvSpPr>
        <p:spPr>
          <a:xfrm>
            <a:off x="609585" y="3687465"/>
            <a:ext cx="5333867" cy="726380"/>
          </a:xfrm>
          <a:prstGeom prst="rect">
            <a:avLst/>
          </a:prstGeom>
          <a:solidFill>
            <a:srgbClr val="E3ECEF"/>
          </a:solidFill>
          <a:ln/>
        </p:spPr>
      </p:sp>
      <p:sp>
        <p:nvSpPr>
          <p:cNvPr id="14" name="Text 12"/>
          <p:cNvSpPr/>
          <p:nvPr/>
        </p:nvSpPr>
        <p:spPr>
          <a:xfrm>
            <a:off x="838179" y="3936802"/>
            <a:ext cx="844727" cy="177800"/>
          </a:xfrm>
          <a:prstGeom prst="rect">
            <a:avLst/>
          </a:prstGeom>
          <a:noFill/>
          <a:ln/>
        </p:spPr>
        <p:txBody>
          <a:bodyPr wrap="none" lIns="0" tIns="0" rIns="0" bIns="0" rtlCol="0" anchor="t"/>
          <a:lstStyle/>
          <a:p>
            <a:pPr marL="0" indent="0" algn="l">
              <a:lnSpc>
                <a:spcPct val="83000"/>
              </a:lnSpc>
              <a:buNone/>
            </a:pPr>
            <a:r>
              <a:rPr lang="en-US" sz="1400" dirty="0">
                <a:solidFill>
                  <a:srgbClr val="2A3A43"/>
                </a:solidFill>
                <a:latin typeface="Geist SemiBold" pitchFamily="34" charset="0"/>
                <a:ea typeface="Geist SemiBold" pitchFamily="34" charset="-122"/>
                <a:cs typeface="Geist SemiBold" pitchFamily="34" charset="-120"/>
              </a:rPr>
              <a:t>04</a:t>
            </a:r>
            <a:endParaRPr lang="en-US" sz="1400" dirty="0"/>
          </a:p>
        </p:txBody>
      </p:sp>
      <p:sp>
        <p:nvSpPr>
          <p:cNvPr id="15" name="Text 13"/>
          <p:cNvSpPr/>
          <p:nvPr/>
        </p:nvSpPr>
        <p:spPr>
          <a:xfrm>
            <a:off x="1251117" y="3916065"/>
            <a:ext cx="4463740"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TF-IDF Feature Extraction</a:t>
            </a:r>
            <a:endParaRPr lang="en-US" sz="1600" dirty="0"/>
          </a:p>
        </p:txBody>
      </p:sp>
      <p:sp>
        <p:nvSpPr>
          <p:cNvPr id="16" name="Shape 14"/>
          <p:cNvSpPr/>
          <p:nvPr/>
        </p:nvSpPr>
        <p:spPr>
          <a:xfrm>
            <a:off x="609585" y="4413845"/>
            <a:ext cx="5333867" cy="726380"/>
          </a:xfrm>
          <a:custGeom>
            <a:avLst/>
            <a:gdLst/>
            <a:ahLst/>
            <a:cxnLst/>
            <a:rect l="l" t="t" r="r" b="b"/>
            <a:pathLst>
              <a:path w="5333867" h="726380">
                <a:moveTo>
                  <a:pt x="0" y="0"/>
                </a:moveTo>
                <a:lnTo>
                  <a:pt x="5333867" y="0"/>
                </a:lnTo>
                <a:lnTo>
                  <a:pt x="5333867" y="716855"/>
                </a:lnTo>
                <a:arcTo wR="9525" hR="9525" stAng="0" swAng="5400000"/>
                <a:lnTo>
                  <a:pt x="9525" y="726380"/>
                </a:lnTo>
                <a:arcTo wR="9525" hR="9525" stAng="5400000" swAng="5400000"/>
                <a:lnTo>
                  <a:pt x="0" y="0"/>
                </a:lnTo>
                <a:close/>
              </a:path>
            </a:pathLst>
          </a:custGeom>
          <a:solidFill>
            <a:srgbClr val="E3ECEF"/>
          </a:solidFill>
          <a:ln/>
        </p:spPr>
      </p:sp>
      <p:sp>
        <p:nvSpPr>
          <p:cNvPr id="17" name="Text 15"/>
          <p:cNvSpPr/>
          <p:nvPr/>
        </p:nvSpPr>
        <p:spPr>
          <a:xfrm>
            <a:off x="838179" y="4663182"/>
            <a:ext cx="847704" cy="177800"/>
          </a:xfrm>
          <a:prstGeom prst="rect">
            <a:avLst/>
          </a:prstGeom>
          <a:noFill/>
          <a:ln/>
        </p:spPr>
        <p:txBody>
          <a:bodyPr wrap="none" lIns="0" tIns="0" rIns="0" bIns="0" rtlCol="0" anchor="t"/>
          <a:lstStyle/>
          <a:p>
            <a:pPr marL="0" indent="0" algn="l">
              <a:lnSpc>
                <a:spcPct val="83000"/>
              </a:lnSpc>
              <a:buNone/>
            </a:pPr>
            <a:r>
              <a:rPr lang="en-US" sz="1400" dirty="0">
                <a:solidFill>
                  <a:srgbClr val="2A3A43"/>
                </a:solidFill>
                <a:latin typeface="Geist SemiBold" pitchFamily="34" charset="0"/>
                <a:ea typeface="Geist SemiBold" pitchFamily="34" charset="-122"/>
                <a:cs typeface="Geist SemiBold" pitchFamily="34" charset="-120"/>
              </a:rPr>
              <a:t>05</a:t>
            </a:r>
            <a:endParaRPr lang="en-US" sz="1400" dirty="0"/>
          </a:p>
        </p:txBody>
      </p:sp>
      <p:sp>
        <p:nvSpPr>
          <p:cNvPr id="18" name="Text 16"/>
          <p:cNvSpPr/>
          <p:nvPr/>
        </p:nvSpPr>
        <p:spPr>
          <a:xfrm>
            <a:off x="1254094" y="4642445"/>
            <a:ext cx="4460763"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Train / Test Split</a:t>
            </a:r>
            <a:endParaRPr lang="en-US" sz="1600" dirty="0"/>
          </a:p>
        </p:txBody>
      </p:sp>
      <p:sp>
        <p:nvSpPr>
          <p:cNvPr id="19" name="Shape 17"/>
          <p:cNvSpPr/>
          <p:nvPr/>
        </p:nvSpPr>
        <p:spPr>
          <a:xfrm>
            <a:off x="6248244" y="1508323"/>
            <a:ext cx="5333867" cy="1528961"/>
          </a:xfrm>
          <a:custGeom>
            <a:avLst/>
            <a:gdLst/>
            <a:ahLst/>
            <a:cxnLst/>
            <a:rect l="l" t="t" r="r" b="b"/>
            <a:pathLst>
              <a:path w="5333867" h="1528961">
                <a:moveTo>
                  <a:pt x="9525" y="0"/>
                </a:moveTo>
                <a:lnTo>
                  <a:pt x="5324342" y="0"/>
                </a:lnTo>
                <a:arcTo wR="9525" hR="9525" stAng="16200000" swAng="5400000"/>
                <a:lnTo>
                  <a:pt x="5333867" y="1528961"/>
                </a:lnTo>
                <a:lnTo>
                  <a:pt x="0" y="1528961"/>
                </a:lnTo>
                <a:lnTo>
                  <a:pt x="0" y="9525"/>
                </a:lnTo>
                <a:arcTo wR="9525" hR="9525" stAng="10800000" swAng="5400000"/>
                <a:close/>
              </a:path>
            </a:pathLst>
          </a:custGeom>
          <a:solidFill>
            <a:srgbClr val="0B5C8E"/>
          </a:solidFill>
          <a:ln/>
        </p:spPr>
      </p:sp>
      <p:sp>
        <p:nvSpPr>
          <p:cNvPr id="20" name="Text 18"/>
          <p:cNvSpPr/>
          <p:nvPr/>
        </p:nvSpPr>
        <p:spPr>
          <a:xfrm>
            <a:off x="6476838" y="1736923"/>
            <a:ext cx="4876678" cy="243780"/>
          </a:xfrm>
          <a:prstGeom prst="rect">
            <a:avLst/>
          </a:prstGeom>
          <a:noFill/>
          <a:ln/>
        </p:spPr>
        <p:txBody>
          <a:bodyPr wrap="none" lIns="0" tIns="0" rIns="0" bIns="0" rtlCol="0" anchor="t"/>
          <a:lstStyle/>
          <a:p>
            <a:pPr marL="0" indent="0" algn="l">
              <a:lnSpc>
                <a:spcPct val="100000"/>
              </a:lnSpc>
              <a:buNone/>
            </a:pPr>
            <a:r>
              <a:rPr lang="en-US" sz="1600" dirty="0">
                <a:solidFill>
                  <a:srgbClr val="FFFFFF"/>
                </a:solidFill>
                <a:latin typeface="Geist SemiBold" pitchFamily="34" charset="0"/>
                <a:ea typeface="Geist SemiBold" pitchFamily="34" charset="-122"/>
                <a:cs typeface="Geist SemiBold" pitchFamily="34" charset="-120"/>
              </a:rPr>
              <a:t>Parallel Model Training</a:t>
            </a:r>
            <a:endParaRPr lang="en-US" sz="1600" dirty="0"/>
          </a:p>
        </p:txBody>
      </p:sp>
      <p:sp>
        <p:nvSpPr>
          <p:cNvPr id="21" name="Shape 19"/>
          <p:cNvSpPr/>
          <p:nvPr/>
        </p:nvSpPr>
        <p:spPr>
          <a:xfrm>
            <a:off x="6476838" y="2107704"/>
            <a:ext cx="2438339" cy="700980"/>
          </a:xfrm>
          <a:custGeom>
            <a:avLst/>
            <a:gdLst/>
            <a:ahLst/>
            <a:cxnLst/>
            <a:rect l="l" t="t" r="r" b="b"/>
            <a:pathLst>
              <a:path w="2438339" h="700980">
                <a:moveTo>
                  <a:pt x="9525" y="0"/>
                </a:moveTo>
                <a:lnTo>
                  <a:pt x="2438339" y="0"/>
                </a:lnTo>
                <a:lnTo>
                  <a:pt x="2438339" y="700980"/>
                </a:lnTo>
                <a:lnTo>
                  <a:pt x="9525" y="700980"/>
                </a:lnTo>
                <a:arcTo wR="9525" hR="9525" stAng="5400000" swAng="5400000"/>
                <a:lnTo>
                  <a:pt x="0" y="9525"/>
                </a:lnTo>
                <a:arcTo wR="9525" hR="9525" stAng="10800000" swAng="5400000"/>
                <a:close/>
              </a:path>
            </a:pathLst>
          </a:custGeom>
          <a:solidFill>
            <a:srgbClr val="E3ECEF"/>
          </a:solidFill>
          <a:ln/>
        </p:spPr>
      </p:sp>
      <p:sp>
        <p:nvSpPr>
          <p:cNvPr id="22" name="Text 20"/>
          <p:cNvSpPr/>
          <p:nvPr/>
        </p:nvSpPr>
        <p:spPr>
          <a:xfrm>
            <a:off x="6705432" y="2336304"/>
            <a:ext cx="1981150"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Decision Tree</a:t>
            </a:r>
            <a:endParaRPr lang="en-US" sz="1600" dirty="0"/>
          </a:p>
        </p:txBody>
      </p:sp>
      <p:sp>
        <p:nvSpPr>
          <p:cNvPr id="23" name="Shape 21"/>
          <p:cNvSpPr/>
          <p:nvPr/>
        </p:nvSpPr>
        <p:spPr>
          <a:xfrm>
            <a:off x="8915177" y="2107704"/>
            <a:ext cx="2438339" cy="700980"/>
          </a:xfrm>
          <a:custGeom>
            <a:avLst/>
            <a:gdLst/>
            <a:ahLst/>
            <a:cxnLst/>
            <a:rect l="l" t="t" r="r" b="b"/>
            <a:pathLst>
              <a:path w="2438339" h="700980">
                <a:moveTo>
                  <a:pt x="0" y="0"/>
                </a:moveTo>
                <a:lnTo>
                  <a:pt x="2428814" y="0"/>
                </a:lnTo>
                <a:arcTo wR="9525" hR="9525" stAng="16200000" swAng="5400000"/>
                <a:lnTo>
                  <a:pt x="2438339" y="691455"/>
                </a:lnTo>
                <a:arcTo wR="9525" hR="9525" stAng="0" swAng="5400000"/>
                <a:lnTo>
                  <a:pt x="0" y="700980"/>
                </a:lnTo>
                <a:lnTo>
                  <a:pt x="0" y="0"/>
                </a:lnTo>
                <a:close/>
              </a:path>
            </a:pathLst>
          </a:custGeom>
          <a:solidFill>
            <a:srgbClr val="E3ECEF"/>
          </a:solidFill>
          <a:ln/>
        </p:spPr>
      </p:sp>
      <p:sp>
        <p:nvSpPr>
          <p:cNvPr id="24" name="Text 22"/>
          <p:cNvSpPr/>
          <p:nvPr/>
        </p:nvSpPr>
        <p:spPr>
          <a:xfrm>
            <a:off x="9143771" y="2336304"/>
            <a:ext cx="1981150"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XGBoost</a:t>
            </a:r>
            <a:endParaRPr lang="en-US" sz="1600" dirty="0"/>
          </a:p>
        </p:txBody>
      </p:sp>
      <p:sp>
        <p:nvSpPr>
          <p:cNvPr id="25" name="Shape 23"/>
          <p:cNvSpPr/>
          <p:nvPr/>
        </p:nvSpPr>
        <p:spPr>
          <a:xfrm>
            <a:off x="6248244" y="3037284"/>
            <a:ext cx="5333867" cy="700980"/>
          </a:xfrm>
          <a:prstGeom prst="rect">
            <a:avLst/>
          </a:prstGeom>
          <a:solidFill>
            <a:srgbClr val="E3ECEF"/>
          </a:solidFill>
          <a:ln/>
        </p:spPr>
      </p:sp>
      <p:sp>
        <p:nvSpPr>
          <p:cNvPr id="26" name="Text 24"/>
          <p:cNvSpPr/>
          <p:nvPr/>
        </p:nvSpPr>
        <p:spPr>
          <a:xfrm>
            <a:off x="6476838" y="3265884"/>
            <a:ext cx="4876678"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5-Fold Stratified Cross-Validation</a:t>
            </a:r>
            <a:endParaRPr lang="en-US" sz="1600" dirty="0"/>
          </a:p>
        </p:txBody>
      </p:sp>
      <p:sp>
        <p:nvSpPr>
          <p:cNvPr id="27" name="Shape 25"/>
          <p:cNvSpPr/>
          <p:nvPr/>
        </p:nvSpPr>
        <p:spPr>
          <a:xfrm>
            <a:off x="6248244" y="3738265"/>
            <a:ext cx="5333867" cy="700980"/>
          </a:xfrm>
          <a:prstGeom prst="rect">
            <a:avLst/>
          </a:prstGeom>
          <a:solidFill>
            <a:srgbClr val="E3ECEF"/>
          </a:solidFill>
          <a:ln/>
        </p:spPr>
      </p:sp>
      <p:sp>
        <p:nvSpPr>
          <p:cNvPr id="28" name="Text 26"/>
          <p:cNvSpPr/>
          <p:nvPr/>
        </p:nvSpPr>
        <p:spPr>
          <a:xfrm>
            <a:off x="6476838" y="3966865"/>
            <a:ext cx="4876678"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Evaluation</a:t>
            </a:r>
            <a:endParaRPr lang="en-US" sz="1600" dirty="0"/>
          </a:p>
        </p:txBody>
      </p:sp>
      <p:sp>
        <p:nvSpPr>
          <p:cNvPr id="29" name="Shape 27"/>
          <p:cNvSpPr/>
          <p:nvPr/>
        </p:nvSpPr>
        <p:spPr>
          <a:xfrm>
            <a:off x="6248244" y="4439245"/>
            <a:ext cx="5333867" cy="700980"/>
          </a:xfrm>
          <a:custGeom>
            <a:avLst/>
            <a:gdLst/>
            <a:ahLst/>
            <a:cxnLst/>
            <a:rect l="l" t="t" r="r" b="b"/>
            <a:pathLst>
              <a:path w="5333867" h="700980">
                <a:moveTo>
                  <a:pt x="0" y="0"/>
                </a:moveTo>
                <a:lnTo>
                  <a:pt x="5333867" y="0"/>
                </a:lnTo>
                <a:lnTo>
                  <a:pt x="5333867" y="691455"/>
                </a:lnTo>
                <a:arcTo wR="9525" hR="9525" stAng="0" swAng="5400000"/>
                <a:lnTo>
                  <a:pt x="9525" y="700980"/>
                </a:lnTo>
                <a:arcTo wR="9525" hR="9525" stAng="5400000" swAng="5400000"/>
                <a:lnTo>
                  <a:pt x="0" y="0"/>
                </a:lnTo>
                <a:close/>
              </a:path>
            </a:pathLst>
          </a:custGeom>
          <a:solidFill>
            <a:srgbClr val="E3ECEF"/>
          </a:solidFill>
          <a:ln/>
        </p:spPr>
      </p:sp>
      <p:sp>
        <p:nvSpPr>
          <p:cNvPr id="30" name="Text 28"/>
          <p:cNvSpPr/>
          <p:nvPr/>
        </p:nvSpPr>
        <p:spPr>
          <a:xfrm>
            <a:off x="6476838" y="4667845"/>
            <a:ext cx="4876678" cy="243780"/>
          </a:xfrm>
          <a:prstGeom prst="rect">
            <a:avLst/>
          </a:prstGeom>
          <a:noFill/>
          <a:ln/>
        </p:spPr>
        <p:txBody>
          <a:bodyPr wrap="none" lIns="0" tIns="0" rIns="0" bIns="0" rtlCol="0" anchor="t"/>
          <a:lstStyle/>
          <a:p>
            <a:pPr marL="0" indent="0" algn="l">
              <a:lnSpc>
                <a:spcPct val="100000"/>
              </a:lnSpc>
              <a:buNone/>
            </a:pPr>
            <a:r>
              <a:rPr lang="en-US" sz="1600" dirty="0">
                <a:solidFill>
                  <a:srgbClr val="2A3A43"/>
                </a:solidFill>
                <a:latin typeface="Geist SemiBold" pitchFamily="34" charset="0"/>
                <a:ea typeface="Geist SemiBold" pitchFamily="34" charset="-122"/>
                <a:cs typeface="Geist SemiBold" pitchFamily="34" charset="-120"/>
              </a:rPr>
              <a:t>Comparison</a:t>
            </a:r>
            <a:endParaRPr lang="en-US" sz="1600" dirty="0"/>
          </a:p>
        </p:txBody>
      </p:sp>
      <p:sp>
        <p:nvSpPr>
          <p:cNvPr id="31" name="Shape 29"/>
          <p:cNvSpPr/>
          <p:nvPr/>
        </p:nvSpPr>
        <p:spPr>
          <a:xfrm>
            <a:off x="609585" y="2228354"/>
            <a:ext cx="5333867" cy="12700"/>
          </a:xfrm>
          <a:prstGeom prst="rect">
            <a:avLst/>
          </a:prstGeom>
          <a:solidFill>
            <a:srgbClr val="C9D6DB"/>
          </a:solidFill>
          <a:ln/>
        </p:spPr>
      </p:sp>
      <p:sp>
        <p:nvSpPr>
          <p:cNvPr id="32" name="Shape 30"/>
          <p:cNvSpPr/>
          <p:nvPr/>
        </p:nvSpPr>
        <p:spPr>
          <a:xfrm>
            <a:off x="609585" y="2954734"/>
            <a:ext cx="5333867" cy="12700"/>
          </a:xfrm>
          <a:prstGeom prst="rect">
            <a:avLst/>
          </a:prstGeom>
          <a:solidFill>
            <a:srgbClr val="C9D6DB"/>
          </a:solidFill>
          <a:ln/>
        </p:spPr>
      </p:sp>
      <p:sp>
        <p:nvSpPr>
          <p:cNvPr id="33" name="Shape 31"/>
          <p:cNvSpPr/>
          <p:nvPr/>
        </p:nvSpPr>
        <p:spPr>
          <a:xfrm>
            <a:off x="609585" y="3681115"/>
            <a:ext cx="5333867" cy="12700"/>
          </a:xfrm>
          <a:prstGeom prst="rect">
            <a:avLst/>
          </a:prstGeom>
          <a:solidFill>
            <a:srgbClr val="C9D6DB"/>
          </a:solidFill>
          <a:ln/>
        </p:spPr>
      </p:sp>
      <p:sp>
        <p:nvSpPr>
          <p:cNvPr id="34" name="Shape 32"/>
          <p:cNvSpPr/>
          <p:nvPr/>
        </p:nvSpPr>
        <p:spPr>
          <a:xfrm>
            <a:off x="609585" y="4407495"/>
            <a:ext cx="5333867" cy="12700"/>
          </a:xfrm>
          <a:prstGeom prst="rect">
            <a:avLst/>
          </a:prstGeom>
          <a:solidFill>
            <a:srgbClr val="C9D6DB"/>
          </a:solidFill>
          <a:ln/>
        </p:spPr>
      </p:sp>
      <p:sp>
        <p:nvSpPr>
          <p:cNvPr id="35" name="Shape 33"/>
          <p:cNvSpPr/>
          <p:nvPr/>
        </p:nvSpPr>
        <p:spPr>
          <a:xfrm>
            <a:off x="8908827" y="2107704"/>
            <a:ext cx="12700" cy="700980"/>
          </a:xfrm>
          <a:prstGeom prst="rect">
            <a:avLst/>
          </a:prstGeom>
          <a:solidFill>
            <a:srgbClr val="C9D6DB"/>
          </a:solidFill>
          <a:ln/>
        </p:spPr>
      </p:sp>
      <p:sp>
        <p:nvSpPr>
          <p:cNvPr id="36" name="Shape 34"/>
          <p:cNvSpPr/>
          <p:nvPr/>
        </p:nvSpPr>
        <p:spPr>
          <a:xfrm>
            <a:off x="6248244" y="3030934"/>
            <a:ext cx="5333867" cy="12700"/>
          </a:xfrm>
          <a:prstGeom prst="rect">
            <a:avLst/>
          </a:prstGeom>
          <a:solidFill>
            <a:srgbClr val="C9D6DB"/>
          </a:solidFill>
          <a:ln/>
        </p:spPr>
      </p:sp>
      <p:sp>
        <p:nvSpPr>
          <p:cNvPr id="37" name="Shape 35"/>
          <p:cNvSpPr/>
          <p:nvPr/>
        </p:nvSpPr>
        <p:spPr>
          <a:xfrm>
            <a:off x="6248244" y="3731915"/>
            <a:ext cx="5333867" cy="12700"/>
          </a:xfrm>
          <a:prstGeom prst="rect">
            <a:avLst/>
          </a:prstGeom>
          <a:solidFill>
            <a:srgbClr val="C9D6DB"/>
          </a:solidFill>
          <a:ln/>
        </p:spPr>
      </p:sp>
      <p:sp>
        <p:nvSpPr>
          <p:cNvPr id="38" name="Shape 36"/>
          <p:cNvSpPr/>
          <p:nvPr/>
        </p:nvSpPr>
        <p:spPr>
          <a:xfrm>
            <a:off x="6248244" y="4432895"/>
            <a:ext cx="5333867" cy="12700"/>
          </a:xfrm>
          <a:prstGeom prst="rect">
            <a:avLst/>
          </a:prstGeom>
          <a:solidFill>
            <a:srgbClr val="C9D6DB"/>
          </a:solidFill>
          <a:ln/>
        </p:spPr>
      </p:sp>
      <p:sp>
        <p:nvSpPr>
          <p:cNvPr id="39" name="Text 37"/>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07</a:t>
            </a:r>
            <a:endParaRPr lang="en-US" sz="1050" dirty="0"/>
          </a:p>
        </p:txBody>
      </p:sp>
      <p:pic>
        <p:nvPicPr>
          <p:cNvPr id="40" name="Picture 39">
            <a:extLst>
              <a:ext uri="{FF2B5EF4-FFF2-40B4-BE49-F238E27FC236}">
                <a16:creationId xmlns:a16="http://schemas.microsoft.com/office/drawing/2014/main" id="{3B51F58A-2408-B358-9069-46A24264935B}"/>
              </a:ext>
            </a:extLst>
          </p:cNvPr>
          <p:cNvPicPr>
            <a:picLocks noChangeAspect="1"/>
          </p:cNvPicPr>
          <p:nvPr/>
        </p:nvPicPr>
        <p:blipFill>
          <a:blip r:embed="rId3"/>
          <a:stretch>
            <a:fillRect/>
          </a:stretch>
        </p:blipFill>
        <p:spPr>
          <a:xfrm>
            <a:off x="10381626" y="6425362"/>
            <a:ext cx="1733639" cy="3683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30092" y="658953"/>
            <a:ext cx="12039299"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2A3A43"/>
                </a:solidFill>
                <a:latin typeface="Geist Mono Medium" pitchFamily="34" charset="0"/>
                <a:ea typeface="Geist Mono Medium" pitchFamily="34" charset="-122"/>
                <a:cs typeface="Geist Mono Medium" pitchFamily="34" charset="-120"/>
              </a:rPr>
              <a:t>MODELS USED</a:t>
            </a:r>
            <a:endParaRPr lang="en-US" sz="1100" dirty="0"/>
          </a:p>
        </p:txBody>
      </p:sp>
      <p:sp>
        <p:nvSpPr>
          <p:cNvPr id="3" name="Text 1"/>
          <p:cNvSpPr/>
          <p:nvPr/>
        </p:nvSpPr>
        <p:spPr>
          <a:xfrm>
            <a:off x="330092" y="913548"/>
            <a:ext cx="11886903"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2A3A43"/>
                </a:solidFill>
                <a:latin typeface="Geist Medium" pitchFamily="34" charset="0"/>
                <a:ea typeface="Geist Medium" pitchFamily="34" charset="-122"/>
                <a:cs typeface="Geist Medium" pitchFamily="34" charset="-120"/>
              </a:rPr>
              <a:t>Machine Learning Models</a:t>
            </a:r>
            <a:endParaRPr lang="en-US" sz="3400" dirty="0"/>
          </a:p>
        </p:txBody>
      </p:sp>
      <p:sp>
        <p:nvSpPr>
          <p:cNvPr id="4" name="Text 2"/>
          <p:cNvSpPr/>
          <p:nvPr/>
        </p:nvSpPr>
        <p:spPr>
          <a:xfrm>
            <a:off x="330092" y="1955693"/>
            <a:ext cx="5689358" cy="440432"/>
          </a:xfrm>
          <a:prstGeom prst="rect">
            <a:avLst/>
          </a:prstGeom>
          <a:noFill/>
          <a:ln/>
        </p:spPr>
        <p:txBody>
          <a:bodyPr wrap="none" lIns="0" tIns="0" rIns="0" bIns="0" rtlCol="0" anchor="t"/>
          <a:lstStyle/>
          <a:p>
            <a:pPr marL="0" indent="0" algn="l">
              <a:lnSpc>
                <a:spcPct val="85000"/>
              </a:lnSpc>
              <a:buNone/>
            </a:pPr>
            <a:r>
              <a:rPr lang="en-US" sz="3400" kern="0" spc="-102" dirty="0">
                <a:solidFill>
                  <a:srgbClr val="2A3A43"/>
                </a:solidFill>
                <a:latin typeface="Geist Medium" pitchFamily="34" charset="0"/>
                <a:ea typeface="Geist Medium" pitchFamily="34" charset="-122"/>
                <a:cs typeface="Geist Medium" pitchFamily="34" charset="-120"/>
              </a:rPr>
              <a:t>Decision Tree</a:t>
            </a:r>
            <a:endParaRPr lang="en-US" sz="3400" dirty="0"/>
          </a:p>
        </p:txBody>
      </p:sp>
      <p:sp>
        <p:nvSpPr>
          <p:cNvPr id="5" name="Text 3"/>
          <p:cNvSpPr/>
          <p:nvPr/>
        </p:nvSpPr>
        <p:spPr>
          <a:xfrm>
            <a:off x="330092" y="2573926"/>
            <a:ext cx="5689358" cy="1164431"/>
          </a:xfrm>
          <a:prstGeom prst="rect">
            <a:avLst/>
          </a:prstGeom>
          <a:noFill/>
          <a:ln/>
        </p:spPr>
        <p:txBody>
          <a:bodyPr wrap="square" lIns="0" tIns="0" rIns="0" bIns="0" rtlCol="0" anchor="t">
            <a:normAutofit/>
          </a:bodyPr>
          <a:lstStyle/>
          <a:p>
            <a:pPr marL="284480" indent="-284480" algn="l">
              <a:lnSpc>
                <a:spcPct val="121000"/>
              </a:lnSpc>
              <a:buSzPct val="100000"/>
              <a:buChar char="•"/>
            </a:pPr>
            <a:r>
              <a:rPr lang="en-US" sz="1400" dirty="0">
                <a:solidFill>
                  <a:srgbClr val="2A3A43"/>
                </a:solidFill>
                <a:latin typeface="Geist" pitchFamily="34" charset="0"/>
                <a:ea typeface="Geist" pitchFamily="34" charset="-122"/>
                <a:cs typeface="Geist" pitchFamily="34" charset="-120"/>
              </a:rPr>
              <a:t>Tree-based classification algorithm.</a:t>
            </a:r>
            <a:endParaRPr lang="en-US" sz="1400" dirty="0"/>
          </a:p>
          <a:p>
            <a:pPr marL="284480" indent="-284480" algn="l">
              <a:lnSpc>
                <a:spcPct val="121000"/>
              </a:lnSpc>
              <a:buSzPct val="100000"/>
              <a:buChar char="•"/>
            </a:pPr>
            <a:r>
              <a:rPr lang="en-US" sz="1400" dirty="0">
                <a:solidFill>
                  <a:srgbClr val="2A3A43"/>
                </a:solidFill>
                <a:latin typeface="Geist" pitchFamily="34" charset="0"/>
                <a:ea typeface="Geist" pitchFamily="34" charset="-122"/>
                <a:cs typeface="Geist" pitchFamily="34" charset="-120"/>
              </a:rPr>
              <a:t>Makes decisions using feature-based splits.</a:t>
            </a:r>
            <a:endParaRPr lang="en-US" sz="1400" dirty="0"/>
          </a:p>
          <a:p>
            <a:pPr marL="284480" indent="-284480" algn="l">
              <a:lnSpc>
                <a:spcPct val="121000"/>
              </a:lnSpc>
              <a:buSzPct val="100000"/>
              <a:buChar char="•"/>
            </a:pPr>
            <a:r>
              <a:rPr lang="en-US" sz="1400" dirty="0">
                <a:solidFill>
                  <a:srgbClr val="2A3A43"/>
                </a:solidFill>
                <a:latin typeface="Geist" pitchFamily="34" charset="0"/>
                <a:ea typeface="Geist" pitchFamily="34" charset="-122"/>
                <a:cs typeface="Geist" pitchFamily="34" charset="-120"/>
              </a:rPr>
              <a:t>Easy to interpret.</a:t>
            </a:r>
            <a:endParaRPr lang="en-US" sz="1400" dirty="0"/>
          </a:p>
          <a:p>
            <a:pPr marL="284480" indent="-284480" algn="l">
              <a:lnSpc>
                <a:spcPct val="121000"/>
              </a:lnSpc>
              <a:buSzPct val="100000"/>
              <a:buChar char="•"/>
            </a:pPr>
            <a:r>
              <a:rPr lang="en-US" sz="1400" dirty="0">
                <a:solidFill>
                  <a:srgbClr val="2A3A43"/>
                </a:solidFill>
                <a:latin typeface="Geist" pitchFamily="34" charset="0"/>
                <a:ea typeface="Geist" pitchFamily="34" charset="-122"/>
                <a:cs typeface="Geist" pitchFamily="34" charset="-120"/>
              </a:rPr>
              <a:t>Used as one of the baseline classification models.</a:t>
            </a:r>
            <a:endParaRPr lang="en-US" sz="1400" dirty="0"/>
          </a:p>
        </p:txBody>
      </p:sp>
      <p:sp>
        <p:nvSpPr>
          <p:cNvPr id="6" name="Text 4"/>
          <p:cNvSpPr/>
          <p:nvPr/>
        </p:nvSpPr>
        <p:spPr>
          <a:xfrm>
            <a:off x="6527438" y="1955693"/>
            <a:ext cx="5689458" cy="440432"/>
          </a:xfrm>
          <a:prstGeom prst="rect">
            <a:avLst/>
          </a:prstGeom>
          <a:noFill/>
          <a:ln/>
        </p:spPr>
        <p:txBody>
          <a:bodyPr wrap="none" lIns="0" tIns="0" rIns="0" bIns="0" rtlCol="0" anchor="t"/>
          <a:lstStyle/>
          <a:p>
            <a:pPr marL="0" indent="0" algn="l">
              <a:lnSpc>
                <a:spcPct val="85000"/>
              </a:lnSpc>
              <a:buNone/>
            </a:pPr>
            <a:r>
              <a:rPr lang="en-US" sz="3400" kern="0" spc="-102" dirty="0">
                <a:solidFill>
                  <a:srgbClr val="0B5C8E"/>
                </a:solidFill>
                <a:latin typeface="Geist Medium" pitchFamily="34" charset="0"/>
                <a:ea typeface="Geist Medium" pitchFamily="34" charset="-122"/>
                <a:cs typeface="Geist Medium" pitchFamily="34" charset="-120"/>
              </a:rPr>
              <a:t>XGBoost</a:t>
            </a:r>
            <a:endParaRPr lang="en-US" sz="3400" dirty="0"/>
          </a:p>
        </p:txBody>
      </p:sp>
      <p:sp>
        <p:nvSpPr>
          <p:cNvPr id="7" name="Text 5"/>
          <p:cNvSpPr/>
          <p:nvPr/>
        </p:nvSpPr>
        <p:spPr>
          <a:xfrm>
            <a:off x="6527438" y="2573926"/>
            <a:ext cx="5689458" cy="1164431"/>
          </a:xfrm>
          <a:prstGeom prst="rect">
            <a:avLst/>
          </a:prstGeom>
          <a:noFill/>
          <a:ln/>
        </p:spPr>
        <p:txBody>
          <a:bodyPr wrap="square" lIns="0" tIns="0" rIns="0" bIns="0" rtlCol="0" anchor="t">
            <a:normAutofit/>
          </a:bodyPr>
          <a:lstStyle/>
          <a:p>
            <a:pPr marL="284480" indent="-284480" algn="l">
              <a:lnSpc>
                <a:spcPct val="121000"/>
              </a:lnSpc>
              <a:buSzPct val="100000"/>
              <a:buChar char="•"/>
            </a:pPr>
            <a:r>
              <a:rPr lang="en-US" sz="1400" dirty="0">
                <a:solidFill>
                  <a:srgbClr val="2A3A43"/>
                </a:solidFill>
                <a:latin typeface="Geist" pitchFamily="34" charset="0"/>
                <a:ea typeface="Geist" pitchFamily="34" charset="-122"/>
                <a:cs typeface="Geist" pitchFamily="34" charset="-120"/>
              </a:rPr>
              <a:t>Gradient boosting algorithm.</a:t>
            </a:r>
            <a:endParaRPr lang="en-US" sz="1400" dirty="0"/>
          </a:p>
          <a:p>
            <a:pPr marL="284480" indent="-284480" algn="l">
              <a:lnSpc>
                <a:spcPct val="121000"/>
              </a:lnSpc>
              <a:buSzPct val="100000"/>
              <a:buChar char="•"/>
            </a:pPr>
            <a:r>
              <a:rPr lang="en-US" sz="1400" dirty="0">
                <a:solidFill>
                  <a:srgbClr val="2A3A43"/>
                </a:solidFill>
                <a:latin typeface="Geist" pitchFamily="34" charset="0"/>
                <a:ea typeface="Geist" pitchFamily="34" charset="-122"/>
                <a:cs typeface="Geist" pitchFamily="34" charset="-120"/>
              </a:rPr>
              <a:t>Builds multiple decision trees sequentially.</a:t>
            </a:r>
            <a:endParaRPr lang="en-US" sz="1400" dirty="0"/>
          </a:p>
          <a:p>
            <a:pPr marL="284480" indent="-284480" algn="l">
              <a:lnSpc>
                <a:spcPct val="121000"/>
              </a:lnSpc>
              <a:buSzPct val="100000"/>
              <a:buChar char="•"/>
            </a:pPr>
            <a:r>
              <a:rPr lang="en-US" sz="1400" dirty="0">
                <a:solidFill>
                  <a:srgbClr val="2A3A43"/>
                </a:solidFill>
                <a:latin typeface="Geist" pitchFamily="34" charset="0"/>
                <a:ea typeface="Geist" pitchFamily="34" charset="-122"/>
                <a:cs typeface="Geist" pitchFamily="34" charset="-120"/>
              </a:rPr>
              <a:t>Uses boosting to improve predictions.</a:t>
            </a:r>
            <a:endParaRPr lang="en-US" sz="1400" dirty="0"/>
          </a:p>
          <a:p>
            <a:pPr marL="284480" indent="-284480" algn="l">
              <a:lnSpc>
                <a:spcPct val="121000"/>
              </a:lnSpc>
              <a:buSzPct val="100000"/>
              <a:buChar char="•"/>
            </a:pPr>
            <a:r>
              <a:rPr lang="en-US" sz="1400" dirty="0">
                <a:solidFill>
                  <a:srgbClr val="2A3A43"/>
                </a:solidFill>
                <a:latin typeface="Geist" pitchFamily="34" charset="0"/>
                <a:ea typeface="Geist" pitchFamily="34" charset="-122"/>
                <a:cs typeface="Geist" pitchFamily="34" charset="-120"/>
              </a:rPr>
              <a:t>Applied for spam classification.</a:t>
            </a:r>
            <a:endParaRPr lang="en-US" sz="1400" dirty="0"/>
          </a:p>
        </p:txBody>
      </p:sp>
      <p:sp>
        <p:nvSpPr>
          <p:cNvPr id="8" name="Shape 6"/>
          <p:cNvSpPr/>
          <p:nvPr/>
        </p:nvSpPr>
        <p:spPr>
          <a:xfrm>
            <a:off x="5782065" y="1955693"/>
            <a:ext cx="12700" cy="1782663"/>
          </a:xfrm>
          <a:prstGeom prst="rect">
            <a:avLst/>
          </a:prstGeom>
          <a:solidFill>
            <a:srgbClr val="C9D6DB"/>
          </a:solidFill>
          <a:ln/>
        </p:spPr>
      </p:sp>
      <p:sp>
        <p:nvSpPr>
          <p:cNvPr id="9" name="Text 7"/>
          <p:cNvSpPr/>
          <p:nvPr/>
        </p:nvSpPr>
        <p:spPr>
          <a:xfrm>
            <a:off x="11400743" y="6466186"/>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08</a:t>
            </a:r>
            <a:endParaRPr lang="en-US" sz="1050" dirty="0"/>
          </a:p>
        </p:txBody>
      </p:sp>
      <p:pic>
        <p:nvPicPr>
          <p:cNvPr id="11" name="Picture 10">
            <a:extLst>
              <a:ext uri="{FF2B5EF4-FFF2-40B4-BE49-F238E27FC236}">
                <a16:creationId xmlns:a16="http://schemas.microsoft.com/office/drawing/2014/main" id="{67395617-D310-7B5E-AA16-ADC9733473F0}"/>
              </a:ext>
            </a:extLst>
          </p:cNvPr>
          <p:cNvPicPr>
            <a:picLocks noChangeAspect="1"/>
          </p:cNvPicPr>
          <p:nvPr/>
        </p:nvPicPr>
        <p:blipFill>
          <a:blip r:embed="rId3"/>
          <a:stretch>
            <a:fillRect/>
          </a:stretch>
        </p:blipFill>
        <p:spPr>
          <a:xfrm>
            <a:off x="458833" y="3906498"/>
            <a:ext cx="4134062" cy="2743341"/>
          </a:xfrm>
          <a:prstGeom prst="rect">
            <a:avLst/>
          </a:prstGeom>
        </p:spPr>
      </p:pic>
      <p:pic>
        <p:nvPicPr>
          <p:cNvPr id="13" name="Picture 12">
            <a:extLst>
              <a:ext uri="{FF2B5EF4-FFF2-40B4-BE49-F238E27FC236}">
                <a16:creationId xmlns:a16="http://schemas.microsoft.com/office/drawing/2014/main" id="{01088D95-959D-991A-BB37-A19CD4557D41}"/>
              </a:ext>
            </a:extLst>
          </p:cNvPr>
          <p:cNvPicPr>
            <a:picLocks noChangeAspect="1"/>
          </p:cNvPicPr>
          <p:nvPr/>
        </p:nvPicPr>
        <p:blipFill>
          <a:blip r:embed="rId4"/>
          <a:stretch>
            <a:fillRect/>
          </a:stretch>
        </p:blipFill>
        <p:spPr>
          <a:xfrm>
            <a:off x="6527438" y="3823915"/>
            <a:ext cx="4305521" cy="2806844"/>
          </a:xfrm>
          <a:prstGeom prst="rect">
            <a:avLst/>
          </a:prstGeom>
        </p:spPr>
      </p:pic>
      <p:pic>
        <p:nvPicPr>
          <p:cNvPr id="16" name="Picture 15">
            <a:extLst>
              <a:ext uri="{FF2B5EF4-FFF2-40B4-BE49-F238E27FC236}">
                <a16:creationId xmlns:a16="http://schemas.microsoft.com/office/drawing/2014/main" id="{721EC56C-C3BA-64E8-29B0-8F92E64F8679}"/>
              </a:ext>
            </a:extLst>
          </p:cNvPr>
          <p:cNvPicPr>
            <a:picLocks noChangeAspect="1"/>
          </p:cNvPicPr>
          <p:nvPr/>
        </p:nvPicPr>
        <p:blipFill>
          <a:blip r:embed="rId5"/>
          <a:stretch>
            <a:fillRect/>
          </a:stretch>
        </p:blipFill>
        <p:spPr>
          <a:xfrm>
            <a:off x="10974620" y="6437103"/>
            <a:ext cx="1200212" cy="4254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Cross-Validation &amp; Evaluation</a:t>
            </a:r>
            <a:endParaRPr lang="en-US" sz="3400" dirty="0"/>
          </a:p>
        </p:txBody>
      </p:sp>
      <p:sp>
        <p:nvSpPr>
          <p:cNvPr id="3" name="Text 1"/>
          <p:cNvSpPr/>
          <p:nvPr/>
        </p:nvSpPr>
        <p:spPr>
          <a:xfrm>
            <a:off x="609585" y="1686619"/>
            <a:ext cx="2186881" cy="466328"/>
          </a:xfrm>
          <a:prstGeom prst="rect">
            <a:avLst/>
          </a:prstGeom>
          <a:noFill/>
          <a:ln/>
        </p:spPr>
        <p:txBody>
          <a:bodyPr wrap="none" lIns="0" tIns="0" rIns="0" bIns="0" rtlCol="0" anchor="t"/>
          <a:lstStyle/>
          <a:p>
            <a:pPr marL="0" indent="0" algn="l">
              <a:lnSpc>
                <a:spcPct val="100000"/>
              </a:lnSpc>
              <a:buNone/>
            </a:pPr>
            <a:r>
              <a:rPr lang="en-US" sz="1600" dirty="0">
                <a:solidFill>
                  <a:srgbClr val="0F1E26"/>
                </a:solidFill>
                <a:latin typeface="Geist SemiBold" pitchFamily="34" charset="0"/>
                <a:ea typeface="Geist SemiBold" pitchFamily="34" charset="-122"/>
                <a:cs typeface="Geist SemiBold" pitchFamily="34" charset="-120"/>
              </a:rPr>
              <a:t>Model Validation</a:t>
            </a:r>
            <a:endParaRPr lang="en-US" sz="1600" dirty="0"/>
          </a:p>
        </p:txBody>
      </p:sp>
      <p:sp>
        <p:nvSpPr>
          <p:cNvPr id="4" name="Text 2"/>
          <p:cNvSpPr/>
          <p:nvPr/>
        </p:nvSpPr>
        <p:spPr>
          <a:xfrm>
            <a:off x="609586" y="2279948"/>
            <a:ext cx="2541988" cy="620316"/>
          </a:xfrm>
          <a:prstGeom prst="rect">
            <a:avLst/>
          </a:prstGeom>
          <a:noFill/>
          <a:ln/>
        </p:spPr>
        <p:txBody>
          <a:bodyPr wrap="square" lIns="0" tIns="0" rIns="0" bIns="0" rtlCol="0" anchor="t"/>
          <a:lstStyle/>
          <a:p>
            <a:pPr marL="0" indent="0" algn="l">
              <a:lnSpc>
                <a:spcPct val="121000"/>
              </a:lnSpc>
              <a:spcAft>
                <a:spcPts val="800"/>
              </a:spcAft>
              <a:buNone/>
            </a:pPr>
            <a:r>
              <a:rPr lang="en-US" sz="1400" b="1" dirty="0">
                <a:solidFill>
                  <a:srgbClr val="2A3A43"/>
                </a:solidFill>
                <a:latin typeface="Geist Bold" pitchFamily="34" charset="0"/>
                <a:ea typeface="Geist Bold" pitchFamily="34" charset="-122"/>
                <a:cs typeface="Geist Bold" pitchFamily="34" charset="-120"/>
              </a:rPr>
              <a:t>Dataset</a:t>
            </a:r>
            <a:endParaRPr lang="en-US" sz="1400" dirty="0"/>
          </a:p>
          <a:p>
            <a:pPr marL="0" indent="0" algn="l">
              <a:lnSpc>
                <a:spcPct val="121000"/>
              </a:lnSpc>
              <a:buNone/>
            </a:pPr>
            <a:r>
              <a:rPr lang="en-US" sz="1400" dirty="0">
                <a:solidFill>
                  <a:srgbClr val="2A3A43"/>
                </a:solidFill>
                <a:latin typeface="Geist" pitchFamily="34" charset="0"/>
                <a:ea typeface="Geist" pitchFamily="34" charset="-122"/>
                <a:cs typeface="Geist" pitchFamily="34" charset="-120"/>
              </a:rPr>
              <a: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378122"/>
              </p:ext>
            </p:extLst>
          </p:nvPr>
        </p:nvGraphicFramePr>
        <p:xfrm>
          <a:off x="506028" y="3029158"/>
          <a:ext cx="3657600" cy="399842"/>
        </p:xfrm>
        <a:graphic>
          <a:graphicData uri="http://schemas.openxmlformats.org/drawingml/2006/table">
            <a:tbl>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99842">
                <a:tc>
                  <a:txBody>
                    <a:bodyPr/>
                    <a:lstStyle/>
                    <a:p>
                      <a:pPr marL="0" indent="0" algn="l">
                        <a:buNone/>
                      </a:pPr>
                      <a:r>
                        <a:rPr lang="en-US" sz="1400" dirty="0">
                          <a:solidFill>
                            <a:srgbClr val="0F1E26"/>
                          </a:solidFill>
                          <a:latin typeface="Geist" pitchFamily="34" charset="0"/>
                          <a:ea typeface="Geist" pitchFamily="34" charset="-122"/>
                          <a:cs typeface="Geist" pitchFamily="34" charset="-120"/>
                        </a:rPr>
                        <a:t>F1</a:t>
                      </a:r>
                      <a:endParaRPr lang="en-US" sz="1400" dirty="0">
                        <a:latin typeface="Geist" charset="0"/>
                        <a:ea typeface="Geist" charset="0"/>
                        <a:cs typeface="Geist" charset="0"/>
                      </a:endParaRPr>
                    </a:p>
                  </a:txBody>
                  <a:tcPr marL="133347" marR="133347" marT="71118" marB="71118" anchor="ctr">
                    <a:lnL w="12700" cap="flat" cmpd="sng" algn="ctr">
                      <a:solidFill>
                        <a:srgbClr val="C9D6DB"/>
                      </a:solidFill>
                      <a:prstDash val="solid"/>
                      <a:round/>
                      <a:headEnd type="none" w="med" len="med"/>
                      <a:tailEnd type="none" w="med" len="med"/>
                    </a:lnL>
                    <a:lnR w="12700" cap="flat" cmpd="sng" algn="ctr">
                      <a:solidFill>
                        <a:srgbClr val="C9D6D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tc>
                  <a:txBody>
                    <a:bodyPr/>
                    <a:lstStyle/>
                    <a:p>
                      <a:pPr marL="0" indent="0" algn="l">
                        <a:buNone/>
                      </a:pPr>
                      <a:r>
                        <a:rPr lang="en-US" sz="1400" dirty="0">
                          <a:solidFill>
                            <a:srgbClr val="0F1E26"/>
                          </a:solidFill>
                          <a:latin typeface="Geist" pitchFamily="34" charset="0"/>
                          <a:ea typeface="Geist" pitchFamily="34" charset="-122"/>
                          <a:cs typeface="Geist" pitchFamily="34" charset="-120"/>
                        </a:rPr>
                        <a:t>F2</a:t>
                      </a:r>
                      <a:endParaRPr lang="en-US" sz="1400" dirty="0">
                        <a:latin typeface="Geist" charset="0"/>
                        <a:ea typeface="Geist" charset="0"/>
                        <a:cs typeface="Geist" charset="0"/>
                      </a:endParaRPr>
                    </a:p>
                  </a:txBody>
                  <a:tcPr marL="133347" marR="133347" marT="71118" marB="71118" anchor="ctr">
                    <a:lnL w="12700" cap="flat" cmpd="sng" algn="ctr">
                      <a:solidFill>
                        <a:srgbClr val="C9D6DB"/>
                      </a:solidFill>
                      <a:prstDash val="solid"/>
                      <a:round/>
                      <a:headEnd type="none" w="med" len="med"/>
                      <a:tailEnd type="none" w="med" len="med"/>
                    </a:lnL>
                    <a:lnR w="12700" cap="flat" cmpd="sng" algn="ctr">
                      <a:solidFill>
                        <a:srgbClr val="C9D6D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tc>
                  <a:txBody>
                    <a:bodyPr/>
                    <a:lstStyle/>
                    <a:p>
                      <a:pPr marL="0" indent="0" algn="l">
                        <a:buNone/>
                      </a:pPr>
                      <a:r>
                        <a:rPr lang="en-US" sz="1400" dirty="0">
                          <a:solidFill>
                            <a:srgbClr val="0F1E26"/>
                          </a:solidFill>
                          <a:latin typeface="Geist" pitchFamily="34" charset="0"/>
                          <a:ea typeface="Geist" pitchFamily="34" charset="-122"/>
                          <a:cs typeface="Geist" pitchFamily="34" charset="-120"/>
                        </a:rPr>
                        <a:t>F3</a:t>
                      </a:r>
                      <a:endParaRPr lang="en-US" sz="1400" dirty="0">
                        <a:latin typeface="Geist" charset="0"/>
                        <a:ea typeface="Geist" charset="0"/>
                        <a:cs typeface="Geist" charset="0"/>
                      </a:endParaRPr>
                    </a:p>
                  </a:txBody>
                  <a:tcPr marL="133347" marR="133347" marT="71118" marB="71118" anchor="ctr">
                    <a:lnL w="12700" cap="flat" cmpd="sng" algn="ctr">
                      <a:solidFill>
                        <a:srgbClr val="C9D6DB"/>
                      </a:solidFill>
                      <a:prstDash val="solid"/>
                      <a:round/>
                      <a:headEnd type="none" w="med" len="med"/>
                      <a:tailEnd type="none" w="med" len="med"/>
                    </a:lnL>
                    <a:lnR w="12700" cap="flat" cmpd="sng" algn="ctr">
                      <a:solidFill>
                        <a:srgbClr val="C9D6D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tc>
                  <a:txBody>
                    <a:bodyPr/>
                    <a:lstStyle/>
                    <a:p>
                      <a:pPr marL="0" indent="0" algn="l">
                        <a:buNone/>
                      </a:pPr>
                      <a:r>
                        <a:rPr lang="en-US" sz="1400" dirty="0">
                          <a:solidFill>
                            <a:srgbClr val="0F1E26"/>
                          </a:solidFill>
                          <a:latin typeface="Geist" pitchFamily="34" charset="0"/>
                          <a:ea typeface="Geist" pitchFamily="34" charset="-122"/>
                          <a:cs typeface="Geist" pitchFamily="34" charset="-120"/>
                        </a:rPr>
                        <a:t>F4</a:t>
                      </a:r>
                      <a:endParaRPr lang="en-US" sz="1400" dirty="0">
                        <a:latin typeface="Geist" charset="0"/>
                        <a:ea typeface="Geist" charset="0"/>
                        <a:cs typeface="Geist" charset="0"/>
                      </a:endParaRPr>
                    </a:p>
                  </a:txBody>
                  <a:tcPr marL="133347" marR="133347" marT="71118" marB="71118" anchor="ctr">
                    <a:lnL w="12700" cap="flat" cmpd="sng" algn="ctr">
                      <a:solidFill>
                        <a:srgbClr val="C9D6DB"/>
                      </a:solidFill>
                      <a:prstDash val="solid"/>
                      <a:round/>
                      <a:headEnd type="none" w="med" len="med"/>
                      <a:tailEnd type="none" w="med" len="med"/>
                    </a:lnL>
                    <a:lnR w="12700" cap="flat" cmpd="sng" algn="ctr">
                      <a:solidFill>
                        <a:srgbClr val="C9D6D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tc>
                  <a:txBody>
                    <a:bodyPr/>
                    <a:lstStyle/>
                    <a:p>
                      <a:pPr marL="0" indent="0" algn="l">
                        <a:buNone/>
                      </a:pPr>
                      <a:r>
                        <a:rPr lang="en-US" sz="1400" dirty="0">
                          <a:solidFill>
                            <a:srgbClr val="0F1E26"/>
                          </a:solidFill>
                          <a:latin typeface="Geist" pitchFamily="34" charset="0"/>
                          <a:ea typeface="Geist" pitchFamily="34" charset="-122"/>
                          <a:cs typeface="Geist" pitchFamily="34" charset="-120"/>
                        </a:rPr>
                        <a:t>F5</a:t>
                      </a:r>
                      <a:endParaRPr lang="en-US" sz="1400" dirty="0">
                        <a:latin typeface="Geist" charset="0"/>
                        <a:ea typeface="Geist" charset="0"/>
                        <a:cs typeface="Geist" charset="0"/>
                      </a:endParaRPr>
                    </a:p>
                  </a:txBody>
                  <a:tcPr marL="133347" marR="133347" marT="71118" marB="71118" anchor="ctr">
                    <a:lnL w="12700" cap="flat" cmpd="sng" algn="ctr">
                      <a:solidFill>
                        <a:srgbClr val="C9D6DB"/>
                      </a:solidFill>
                      <a:prstDash val="solid"/>
                      <a:round/>
                      <a:headEnd type="none" w="med" len="med"/>
                      <a:tailEnd type="none" w="med" len="med"/>
                    </a:lnL>
                    <a:lnR w="12700" cap="flat" cmpd="sng" algn="ctr">
                      <a:solidFill>
                        <a:srgbClr val="C9D6D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6" name="Text 3"/>
          <p:cNvSpPr/>
          <p:nvPr/>
        </p:nvSpPr>
        <p:spPr>
          <a:xfrm>
            <a:off x="609586" y="3522365"/>
            <a:ext cx="2062594" cy="2070497"/>
          </a:xfrm>
          <a:prstGeom prst="rect">
            <a:avLst/>
          </a:prstGeom>
          <a:noFill/>
          <a:ln/>
        </p:spPr>
        <p:txBody>
          <a:bodyPr wrap="square" lIns="0" tIns="0" rIns="0" bIns="0" rtlCol="0" anchor="t"/>
          <a:lstStyle/>
          <a:p>
            <a:pPr marL="0" indent="0" algn="l">
              <a:lnSpc>
                <a:spcPct val="121000"/>
              </a:lnSpc>
              <a:spcAft>
                <a:spcPts val="800"/>
              </a:spcAft>
              <a:buNone/>
            </a:pPr>
            <a:r>
              <a:rPr lang="en-US" sz="1400" dirty="0">
                <a:solidFill>
                  <a:srgbClr val="2A3A43"/>
                </a:solidFill>
                <a:latin typeface="Geist" pitchFamily="34" charset="0"/>
                <a:ea typeface="Geist" pitchFamily="34" charset="-122"/>
                <a:cs typeface="Geist" pitchFamily="34" charset="-120"/>
              </a:rPr>
              <a:t>↓</a:t>
            </a:r>
            <a:endParaRPr lang="en-US" sz="1400" dirty="0"/>
          </a:p>
          <a:p>
            <a:pPr marL="0" indent="0" algn="l">
              <a:lnSpc>
                <a:spcPct val="121000"/>
              </a:lnSpc>
              <a:spcAft>
                <a:spcPts val="800"/>
              </a:spcAft>
              <a:buNone/>
            </a:pPr>
            <a:r>
              <a:rPr lang="en-US" sz="1400" b="1" dirty="0">
                <a:solidFill>
                  <a:srgbClr val="2A3A43"/>
                </a:solidFill>
                <a:latin typeface="Geist Bold" pitchFamily="34" charset="0"/>
                <a:ea typeface="Geist Bold" pitchFamily="34" charset="-122"/>
                <a:cs typeface="Geist Bold" pitchFamily="34" charset="-120"/>
              </a:rPr>
              <a:t>Train / Validate</a:t>
            </a:r>
            <a:endParaRPr lang="en-US" sz="1400" dirty="0"/>
          </a:p>
          <a:p>
            <a:pPr marL="0" indent="0" algn="l">
              <a:lnSpc>
                <a:spcPct val="121000"/>
              </a:lnSpc>
              <a:spcAft>
                <a:spcPts val="800"/>
              </a:spcAft>
              <a:buNone/>
            </a:pPr>
            <a:r>
              <a:rPr lang="en-US" sz="1400" dirty="0">
                <a:solidFill>
                  <a:srgbClr val="2A3A43"/>
                </a:solidFill>
                <a:latin typeface="Geist" pitchFamily="34" charset="0"/>
                <a:ea typeface="Geist" pitchFamily="34" charset="-122"/>
                <a:cs typeface="Geist" pitchFamily="34" charset="-120"/>
              </a:rPr>
              <a:t>↓</a:t>
            </a:r>
            <a:endParaRPr lang="en-US" sz="1400" dirty="0"/>
          </a:p>
          <a:p>
            <a:pPr marL="0" indent="0" algn="l">
              <a:lnSpc>
                <a:spcPct val="121000"/>
              </a:lnSpc>
              <a:spcAft>
                <a:spcPts val="800"/>
              </a:spcAft>
              <a:buNone/>
            </a:pPr>
            <a:r>
              <a:rPr lang="en-US" sz="1400" b="1" dirty="0">
                <a:solidFill>
                  <a:srgbClr val="2A3A43"/>
                </a:solidFill>
                <a:latin typeface="Geist Bold" pitchFamily="34" charset="0"/>
                <a:ea typeface="Geist Bold" pitchFamily="34" charset="-122"/>
                <a:cs typeface="Geist Bold" pitchFamily="34" charset="-120"/>
              </a:rPr>
              <a:t>Repeat 5 Times</a:t>
            </a:r>
            <a:endParaRPr lang="en-US" sz="1400" dirty="0"/>
          </a:p>
          <a:p>
            <a:pPr marL="0" indent="0" algn="l">
              <a:lnSpc>
                <a:spcPct val="121000"/>
              </a:lnSpc>
              <a:spcAft>
                <a:spcPts val="800"/>
              </a:spcAft>
              <a:buNone/>
            </a:pPr>
            <a:r>
              <a:rPr lang="en-US" sz="1400" dirty="0">
                <a:solidFill>
                  <a:srgbClr val="2A3A43"/>
                </a:solidFill>
                <a:latin typeface="Geist" pitchFamily="34" charset="0"/>
                <a:ea typeface="Geist" pitchFamily="34" charset="-122"/>
                <a:cs typeface="Geist" pitchFamily="34" charset="-120"/>
              </a:rPr>
              <a:t>↓</a:t>
            </a:r>
            <a:endParaRPr lang="en-US" sz="1400" dirty="0"/>
          </a:p>
          <a:p>
            <a:pPr marL="0" indent="0" algn="l">
              <a:lnSpc>
                <a:spcPct val="121000"/>
              </a:lnSpc>
              <a:buNone/>
            </a:pPr>
            <a:r>
              <a:rPr lang="en-US" sz="1400" b="1" dirty="0">
                <a:solidFill>
                  <a:srgbClr val="2A3A43"/>
                </a:solidFill>
                <a:latin typeface="Geist Bold" pitchFamily="34" charset="0"/>
                <a:ea typeface="Geist Bold" pitchFamily="34" charset="-122"/>
                <a:cs typeface="Geist Bold" pitchFamily="34" charset="-120"/>
              </a:rPr>
              <a:t>Mean Score</a:t>
            </a:r>
            <a:endParaRPr lang="en-US" sz="1400" dirty="0"/>
          </a:p>
        </p:txBody>
      </p:sp>
      <p:sp>
        <p:nvSpPr>
          <p:cNvPr id="7" name="Text 4"/>
          <p:cNvSpPr/>
          <p:nvPr/>
        </p:nvSpPr>
        <p:spPr>
          <a:xfrm>
            <a:off x="5449253" y="1749226"/>
            <a:ext cx="5333867" cy="243780"/>
          </a:xfrm>
          <a:prstGeom prst="rect">
            <a:avLst/>
          </a:prstGeom>
          <a:noFill/>
          <a:ln/>
        </p:spPr>
        <p:txBody>
          <a:bodyPr wrap="none" lIns="0" tIns="0" rIns="0" bIns="0" rtlCol="0" anchor="t"/>
          <a:lstStyle/>
          <a:p>
            <a:pPr marL="0" indent="0" algn="l">
              <a:lnSpc>
                <a:spcPct val="100000"/>
              </a:lnSpc>
              <a:buNone/>
            </a:pPr>
            <a:r>
              <a:rPr lang="en-US" sz="1600" dirty="0">
                <a:solidFill>
                  <a:srgbClr val="0F1E26"/>
                </a:solidFill>
                <a:latin typeface="Geist SemiBold" pitchFamily="34" charset="0"/>
                <a:ea typeface="Geist SemiBold" pitchFamily="34" charset="-122"/>
                <a:cs typeface="Geist SemiBold" pitchFamily="34" charset="-120"/>
              </a:rPr>
              <a:t>Evaluation Metrics</a:t>
            </a:r>
            <a:endParaRPr lang="en-US" sz="1600" dirty="0"/>
          </a:p>
        </p:txBody>
      </p:sp>
      <p:graphicFrame>
        <p:nvGraphicFramePr>
          <p:cNvPr id="19" name="Table 1"/>
          <p:cNvGraphicFramePr>
            <a:graphicFrameLocks noGrp="1"/>
          </p:cNvGraphicFramePr>
          <p:nvPr>
            <p:extLst>
              <p:ext uri="{D42A27DB-BD31-4B8C-83A1-F6EECF244321}">
                <p14:modId xmlns:p14="http://schemas.microsoft.com/office/powerpoint/2010/main" val="2595572845"/>
              </p:ext>
            </p:extLst>
          </p:nvPr>
        </p:nvGraphicFramePr>
        <p:xfrm>
          <a:off x="5566299" y="2503968"/>
          <a:ext cx="5450890" cy="2540133"/>
        </p:xfrm>
        <a:graphic>
          <a:graphicData uri="http://schemas.openxmlformats.org/drawingml/2006/table">
            <a:tbl>
              <a:tblPr/>
              <a:tblGrid>
                <a:gridCol w="2725445">
                  <a:extLst>
                    <a:ext uri="{9D8B030D-6E8A-4147-A177-3AD203B41FA5}">
                      <a16:colId xmlns:a16="http://schemas.microsoft.com/office/drawing/2014/main" val="20000"/>
                    </a:ext>
                  </a:extLst>
                </a:gridCol>
                <a:gridCol w="2725445">
                  <a:extLst>
                    <a:ext uri="{9D8B030D-6E8A-4147-A177-3AD203B41FA5}">
                      <a16:colId xmlns:a16="http://schemas.microsoft.com/office/drawing/2014/main" val="20001"/>
                    </a:ext>
                  </a:extLst>
                </a:gridCol>
              </a:tblGrid>
              <a:tr h="406191">
                <a:tc>
                  <a:txBody>
                    <a:bodyPr/>
                    <a:lstStyle/>
                    <a:p>
                      <a:pPr marL="0" indent="0" algn="l">
                        <a:buNone/>
                      </a:pPr>
                      <a:r>
                        <a:rPr lang="en-US" sz="1400" dirty="0">
                          <a:solidFill>
                            <a:srgbClr val="0F1E26"/>
                          </a:solidFill>
                          <a:latin typeface="Geist" pitchFamily="34" charset="0"/>
                          <a:ea typeface="Geist" pitchFamily="34" charset="-122"/>
                          <a:cs typeface="Geist" pitchFamily="34" charset="-120"/>
                        </a:rPr>
                        <a:t>Metric</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tc>
                  <a:txBody>
                    <a:bodyPr/>
                    <a:lstStyle/>
                    <a:p>
                      <a:pPr marL="0" indent="0" algn="l">
                        <a:buNone/>
                      </a:pPr>
                      <a:r>
                        <a:rPr lang="en-US" sz="1400" dirty="0">
                          <a:solidFill>
                            <a:srgbClr val="0F1E26"/>
                          </a:solidFill>
                          <a:latin typeface="Geist" pitchFamily="34" charset="0"/>
                          <a:ea typeface="Geist" pitchFamily="34" charset="-122"/>
                          <a:cs typeface="Geist" pitchFamily="34" charset="-120"/>
                        </a:rPr>
                        <a:t>Meaning</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extLst>
                  <a:ext uri="{0D108BD9-81ED-4DB2-BD59-A6C34878D82A}">
                    <a16:rowId xmlns:a16="http://schemas.microsoft.com/office/drawing/2014/main" val="10000"/>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Accuracy</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Overall correct predictions</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extLst>
                  <a:ext uri="{0D108BD9-81ED-4DB2-BD59-A6C34878D82A}">
                    <a16:rowId xmlns:a16="http://schemas.microsoft.com/office/drawing/2014/main" val="10001"/>
                  </a:ext>
                </a:extLst>
              </a:tr>
              <a:tr h="406191">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Precision</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Correct spam predictions</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extLst>
                  <a:ext uri="{0D108BD9-81ED-4DB2-BD59-A6C34878D82A}">
                    <a16:rowId xmlns:a16="http://schemas.microsoft.com/office/drawing/2014/main" val="10002"/>
                  </a:ext>
                </a:extLst>
              </a:tr>
              <a:tr h="663955">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Recall</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Spam emails successfully detected</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C9D6DB"/>
                      </a:solidFill>
                      <a:prstDash val="solid"/>
                      <a:round/>
                      <a:headEnd type="none" w="med" len="med"/>
                      <a:tailEnd type="none" w="med" len="med"/>
                    </a:lnB>
                  </a:tcPr>
                </a:tc>
                <a:extLst>
                  <a:ext uri="{0D108BD9-81ED-4DB2-BD59-A6C34878D82A}">
                    <a16:rowId xmlns:a16="http://schemas.microsoft.com/office/drawing/2014/main" val="10003"/>
                  </a:ext>
                </a:extLst>
              </a:tr>
              <a:tr h="657605">
                <a:tc>
                  <a:txBody>
                    <a:bodyPr/>
                    <a:lstStyle/>
                    <a:p>
                      <a:pPr marL="0" indent="0" algn="l">
                        <a:buNone/>
                      </a:pPr>
                      <a:r>
                        <a:rPr lang="en-US" sz="1400" b="1" dirty="0">
                          <a:solidFill>
                            <a:srgbClr val="2A3A43"/>
                          </a:solidFill>
                          <a:latin typeface="Geist" pitchFamily="34" charset="0"/>
                          <a:ea typeface="Geist" pitchFamily="34" charset="-122"/>
                          <a:cs typeface="Geist" pitchFamily="34" charset="-120"/>
                        </a:rPr>
                        <a:t>F1 Score</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400" dirty="0">
                          <a:solidFill>
                            <a:srgbClr val="2A3A43"/>
                          </a:solidFill>
                          <a:latin typeface="Geist" pitchFamily="34" charset="0"/>
                          <a:ea typeface="Geist" pitchFamily="34" charset="-122"/>
                          <a:cs typeface="Geist" pitchFamily="34" charset="-120"/>
                        </a:rPr>
                        <a:t>Balance of precision and recall</a:t>
                      </a:r>
                      <a:endParaRPr lang="en-US" sz="1400" dirty="0">
                        <a:latin typeface="Geist" charset="0"/>
                        <a:ea typeface="Geist" charset="0"/>
                        <a:cs typeface="Geist" charset="0"/>
                      </a:endParaRPr>
                    </a:p>
                  </a:txBody>
                  <a:tcPr marL="133347" marR="133347" marT="71118" marB="71118"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C9D6DB"/>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09</a:t>
            </a:r>
            <a:endParaRPr lang="en-US" sz="1050" dirty="0"/>
          </a:p>
        </p:txBody>
      </p:sp>
      <p:cxnSp>
        <p:nvCxnSpPr>
          <p:cNvPr id="8" name="Straight Connector 7">
            <a:extLst>
              <a:ext uri="{FF2B5EF4-FFF2-40B4-BE49-F238E27FC236}">
                <a16:creationId xmlns:a16="http://schemas.microsoft.com/office/drawing/2014/main" id="{AFBB1060-F457-93D9-DEB0-EE156A6341F3}"/>
              </a:ext>
            </a:extLst>
          </p:cNvPr>
          <p:cNvCxnSpPr>
            <a:cxnSpLocks/>
          </p:cNvCxnSpPr>
          <p:nvPr/>
        </p:nvCxnSpPr>
        <p:spPr>
          <a:xfrm>
            <a:off x="7628893" y="2610500"/>
            <a:ext cx="0" cy="2298851"/>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526793AF-F213-3B07-C970-00D815D8BFED}"/>
              </a:ext>
            </a:extLst>
          </p:cNvPr>
          <p:cNvPicPr>
            <a:picLocks noChangeAspect="1"/>
          </p:cNvPicPr>
          <p:nvPr/>
        </p:nvPicPr>
        <p:blipFill>
          <a:blip r:embed="rId3"/>
          <a:stretch>
            <a:fillRect/>
          </a:stretch>
        </p:blipFill>
        <p:spPr>
          <a:xfrm>
            <a:off x="10381626" y="6425362"/>
            <a:ext cx="1733639" cy="3683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2" name="Text 7"/>
          <p:cNvSpPr/>
          <p:nvPr/>
        </p:nvSpPr>
        <p:spPr>
          <a:xfrm>
            <a:off x="402851" y="6068417"/>
            <a:ext cx="11582110" cy="179983"/>
          </a:xfrm>
          <a:prstGeom prst="rect">
            <a:avLst/>
          </a:prstGeom>
          <a:noFill/>
          <a:ln/>
        </p:spPr>
        <p:txBody>
          <a:bodyPr wrap="none" lIns="0" tIns="0" rIns="0" bIns="0" rtlCol="0" anchor="t"/>
          <a:lstStyle/>
          <a:p>
            <a:pPr marL="0" indent="0" algn="l">
              <a:lnSpc>
                <a:spcPct val="113000"/>
              </a:lnSpc>
              <a:buNone/>
            </a:pPr>
            <a:r>
              <a:rPr lang="en-US" sz="1050" kern="0" spc="84" dirty="0">
                <a:solidFill>
                  <a:srgbClr val="55656E"/>
                </a:solidFill>
                <a:latin typeface="Geist Mono" pitchFamily="34" charset="0"/>
                <a:ea typeface="Geist Mono" pitchFamily="34" charset="-122"/>
                <a:cs typeface="Geist Mono" pitchFamily="34" charset="-120"/>
              </a:rPr>
              <a:t>EVALUATION LOG: HELD-OUT TEST RUNS &amp; 5-FOLD STRATIFIED CV REPLICATES</a:t>
            </a:r>
            <a:endParaRPr lang="en-US" sz="1050" dirty="0"/>
          </a:p>
        </p:txBody>
      </p:sp>
      <p:sp>
        <p:nvSpPr>
          <p:cNvPr id="14" name="Text 9"/>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10</a:t>
            </a:r>
            <a:endParaRPr lang="en-US" sz="1050" dirty="0"/>
          </a:p>
        </p:txBody>
      </p:sp>
      <p:pic>
        <p:nvPicPr>
          <p:cNvPr id="10" name="Picture 9">
            <a:extLst>
              <a:ext uri="{FF2B5EF4-FFF2-40B4-BE49-F238E27FC236}">
                <a16:creationId xmlns:a16="http://schemas.microsoft.com/office/drawing/2014/main" id="{056A3B0D-6BA7-B911-7148-F21DDCD3E737}"/>
              </a:ext>
            </a:extLst>
          </p:cNvPr>
          <p:cNvPicPr>
            <a:picLocks noChangeAspect="1"/>
          </p:cNvPicPr>
          <p:nvPr/>
        </p:nvPicPr>
        <p:blipFill>
          <a:blip r:embed="rId3"/>
          <a:stretch>
            <a:fillRect/>
          </a:stretch>
        </p:blipFill>
        <p:spPr>
          <a:xfrm>
            <a:off x="402851" y="1044518"/>
            <a:ext cx="4692986" cy="4635755"/>
          </a:xfrm>
          <a:prstGeom prst="rect">
            <a:avLst/>
          </a:prstGeom>
        </p:spPr>
      </p:pic>
      <p:sp>
        <p:nvSpPr>
          <p:cNvPr id="15" name="TextBox 14">
            <a:extLst>
              <a:ext uri="{FF2B5EF4-FFF2-40B4-BE49-F238E27FC236}">
                <a16:creationId xmlns:a16="http://schemas.microsoft.com/office/drawing/2014/main" id="{A19AC3EF-F416-7E8A-A3E9-16412886979F}"/>
              </a:ext>
            </a:extLst>
          </p:cNvPr>
          <p:cNvSpPr txBox="1"/>
          <p:nvPr/>
        </p:nvSpPr>
        <p:spPr>
          <a:xfrm>
            <a:off x="480556" y="285846"/>
            <a:ext cx="4131201" cy="507831"/>
          </a:xfrm>
          <a:prstGeom prst="rect">
            <a:avLst/>
          </a:prstGeom>
          <a:noFill/>
        </p:spPr>
        <p:txBody>
          <a:bodyPr wrap="square" rtlCol="0">
            <a:spAutoFit/>
          </a:bodyPr>
          <a:lstStyle/>
          <a:p>
            <a:r>
              <a:rPr lang="en-GB" sz="2700" dirty="0"/>
              <a:t>Results &amp; Comparison</a:t>
            </a:r>
          </a:p>
        </p:txBody>
      </p:sp>
      <p:sp>
        <p:nvSpPr>
          <p:cNvPr id="16" name="TextBox 15">
            <a:extLst>
              <a:ext uri="{FF2B5EF4-FFF2-40B4-BE49-F238E27FC236}">
                <a16:creationId xmlns:a16="http://schemas.microsoft.com/office/drawing/2014/main" id="{E5AE1B30-8E90-6AD0-5062-C233F248B90D}"/>
              </a:ext>
            </a:extLst>
          </p:cNvPr>
          <p:cNvSpPr txBox="1"/>
          <p:nvPr/>
        </p:nvSpPr>
        <p:spPr>
          <a:xfrm>
            <a:off x="6027089" y="1455089"/>
            <a:ext cx="5373654" cy="3416320"/>
          </a:xfrm>
          <a:prstGeom prst="rect">
            <a:avLst/>
          </a:prstGeom>
          <a:noFill/>
        </p:spPr>
        <p:txBody>
          <a:bodyPr wrap="square" rtlCol="0">
            <a:spAutoFit/>
          </a:bodyPr>
          <a:lstStyle/>
          <a:p>
            <a:pPr marL="285750" indent="-285750">
              <a:buFont typeface="Arial" panose="020B0604020202020204" pitchFamily="34" charset="0"/>
              <a:buChar char="•"/>
            </a:pPr>
            <a:r>
              <a:rPr lang="en-GB" dirty="0"/>
              <a:t>The performance of </a:t>
            </a:r>
            <a:r>
              <a:rPr lang="en-GB" b="1" dirty="0"/>
              <a:t>Decision Tree and </a:t>
            </a:r>
            <a:r>
              <a:rPr lang="en-GB" b="1" dirty="0" err="1"/>
              <a:t>XGBoost</a:t>
            </a:r>
            <a:r>
              <a:rPr lang="en-GB" dirty="0"/>
              <a:t> is compared using Accuracy, Precision, Recall, and F1 Score.</a:t>
            </a:r>
          </a:p>
          <a:p>
            <a:pPr marL="285750" indent="-285750">
              <a:buFont typeface="Arial" panose="020B0604020202020204" pitchFamily="34" charset="0"/>
              <a:buChar char="•"/>
            </a:pPr>
            <a:r>
              <a:rPr lang="en-GB" dirty="0"/>
              <a:t>The </a:t>
            </a:r>
            <a:r>
              <a:rPr lang="en-GB" b="1" dirty="0"/>
              <a:t>5-Fold Cross-Validation</a:t>
            </a:r>
            <a:r>
              <a:rPr lang="en-GB" dirty="0"/>
              <a:t> results show how consistently each model performs across different data splits.</a:t>
            </a:r>
          </a:p>
          <a:p>
            <a:pPr marL="285750" indent="-285750">
              <a:buFont typeface="Arial" panose="020B0604020202020204" pitchFamily="34" charset="0"/>
              <a:buChar char="•"/>
            </a:pPr>
            <a:r>
              <a:rPr lang="en-GB" dirty="0"/>
              <a:t>The </a:t>
            </a:r>
            <a:r>
              <a:rPr lang="en-GB" b="1" dirty="0"/>
              <a:t>confusion matrices</a:t>
            </a:r>
            <a:r>
              <a:rPr lang="en-GB" dirty="0"/>
              <a:t> show the number of spam and legitimate emails correctly and incorrectly classified.</a:t>
            </a:r>
          </a:p>
          <a:p>
            <a:pPr marL="285750" indent="-285750">
              <a:buFont typeface="Arial" panose="020B0604020202020204" pitchFamily="34" charset="0"/>
              <a:buChar char="•"/>
            </a:pPr>
            <a:r>
              <a:rPr lang="en-GB" dirty="0"/>
              <a:t>The comparison helps identify which model performed better based on the </a:t>
            </a:r>
            <a:r>
              <a:rPr lang="en-GB" b="1" dirty="0"/>
              <a:t>actual experimental results</a:t>
            </a:r>
            <a:r>
              <a:rPr lang="en-GB" dirty="0"/>
              <a:t>.</a:t>
            </a:r>
          </a:p>
        </p:txBody>
      </p:sp>
      <p:pic>
        <p:nvPicPr>
          <p:cNvPr id="17" name="Picture 16">
            <a:extLst>
              <a:ext uri="{FF2B5EF4-FFF2-40B4-BE49-F238E27FC236}">
                <a16:creationId xmlns:a16="http://schemas.microsoft.com/office/drawing/2014/main" id="{3BEB4BF8-CFDF-48F7-4EFD-7F0151053835}"/>
              </a:ext>
            </a:extLst>
          </p:cNvPr>
          <p:cNvPicPr>
            <a:picLocks noChangeAspect="1"/>
          </p:cNvPicPr>
          <p:nvPr/>
        </p:nvPicPr>
        <p:blipFill>
          <a:blip r:embed="rId4"/>
          <a:stretch>
            <a:fillRect/>
          </a:stretch>
        </p:blipFill>
        <p:spPr>
          <a:xfrm>
            <a:off x="10381626" y="6417411"/>
            <a:ext cx="1733639" cy="3683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RESULT INTERPRETATION</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Key Findings</a:t>
            </a:r>
            <a:endParaRPr lang="en-US" sz="3400" dirty="0"/>
          </a:p>
        </p:txBody>
      </p:sp>
      <p:sp>
        <p:nvSpPr>
          <p:cNvPr id="5" name="Text 3"/>
          <p:cNvSpPr/>
          <p:nvPr/>
        </p:nvSpPr>
        <p:spPr>
          <a:xfrm>
            <a:off x="609585" y="2049264"/>
            <a:ext cx="4754741"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TEST-SET RESULTS</a:t>
            </a:r>
            <a:endParaRPr lang="en-US" sz="1100" dirty="0"/>
          </a:p>
        </p:txBody>
      </p:sp>
      <p:sp>
        <p:nvSpPr>
          <p:cNvPr id="8" name="Text 5"/>
          <p:cNvSpPr/>
          <p:nvPr/>
        </p:nvSpPr>
        <p:spPr>
          <a:xfrm>
            <a:off x="6167010" y="1885453"/>
            <a:ext cx="2707550" cy="345381"/>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INTERPRETATION</a:t>
            </a:r>
            <a:endParaRPr lang="en-US" sz="1100" dirty="0"/>
          </a:p>
        </p:txBody>
      </p:sp>
      <p:sp>
        <p:nvSpPr>
          <p:cNvPr id="9" name="Text 6"/>
          <p:cNvSpPr/>
          <p:nvPr/>
        </p:nvSpPr>
        <p:spPr>
          <a:xfrm>
            <a:off x="6167010" y="2335609"/>
            <a:ext cx="5435600" cy="3015619"/>
          </a:xfrm>
          <a:prstGeom prst="rect">
            <a:avLst/>
          </a:prstGeom>
          <a:noFill/>
          <a:ln/>
        </p:spPr>
        <p:txBody>
          <a:bodyPr wrap="square" lIns="0" tIns="0" rIns="0" bIns="0" rtlCol="0" anchor="t">
            <a:noAutofit/>
          </a:bodyPr>
          <a:lstStyle/>
          <a:p>
            <a:pPr marL="284480" indent="-284480" algn="l">
              <a:lnSpc>
                <a:spcPct val="121000"/>
              </a:lnSpc>
              <a:buSzPct val="100000"/>
              <a:buChar char="•"/>
            </a:pPr>
            <a:r>
              <a:rPr lang="en-US" sz="1550" dirty="0">
                <a:solidFill>
                  <a:srgbClr val="2A3A43"/>
                </a:solidFill>
                <a:latin typeface="Geist" pitchFamily="34" charset="0"/>
                <a:ea typeface="Geist" pitchFamily="34" charset="-122"/>
                <a:cs typeface="Geist" pitchFamily="34" charset="-120"/>
              </a:rPr>
              <a:t>The models were compared using Accuracy, Precision, Recall and F1-score.</a:t>
            </a:r>
            <a:endParaRPr lang="en-US" sz="1550" dirty="0"/>
          </a:p>
          <a:p>
            <a:pPr marL="284480" indent="-284480" algn="l">
              <a:lnSpc>
                <a:spcPct val="121000"/>
              </a:lnSpc>
              <a:buSzPct val="100000"/>
              <a:buChar char="•"/>
            </a:pPr>
            <a:r>
              <a:rPr lang="en-US" sz="1550" dirty="0">
                <a:solidFill>
                  <a:srgbClr val="2A3A43"/>
                </a:solidFill>
                <a:latin typeface="Geist" pitchFamily="34" charset="0"/>
                <a:ea typeface="Geist" pitchFamily="34" charset="-122"/>
                <a:cs typeface="Geist" pitchFamily="34" charset="-120"/>
              </a:rPr>
              <a:t>5-fold cross-validation was used to assess consistency across training/validation splits.</a:t>
            </a:r>
            <a:endParaRPr lang="en-US" sz="1550" dirty="0"/>
          </a:p>
          <a:p>
            <a:pPr marL="284480" indent="-284480" algn="l">
              <a:lnSpc>
                <a:spcPct val="121000"/>
              </a:lnSpc>
              <a:buSzPct val="100000"/>
              <a:buChar char="•"/>
            </a:pPr>
            <a:r>
              <a:rPr lang="en-US" sz="1550" dirty="0">
                <a:solidFill>
                  <a:srgbClr val="2A3A43"/>
                </a:solidFill>
                <a:latin typeface="Geist" pitchFamily="34" charset="0"/>
                <a:ea typeface="Geist" pitchFamily="34" charset="-122"/>
                <a:cs typeface="Geist" pitchFamily="34" charset="-120"/>
              </a:rPr>
              <a:t>Based on the selected evaluation metric, </a:t>
            </a:r>
            <a:r>
              <a:rPr lang="en-US" sz="1550" b="1" dirty="0">
                <a:solidFill>
                  <a:srgbClr val="2A3A43"/>
                </a:solidFill>
                <a:latin typeface="Geist Bold" pitchFamily="34" charset="0"/>
                <a:ea typeface="Geist Bold" pitchFamily="34" charset="-122"/>
                <a:cs typeface="Geist Bold" pitchFamily="34" charset="-120"/>
              </a:rPr>
              <a:t>[model shown by the actual results]</a:t>
            </a:r>
            <a:r>
              <a:rPr lang="en-US" sz="1550" dirty="0">
                <a:solidFill>
                  <a:srgbClr val="2A3A43"/>
                </a:solidFill>
                <a:latin typeface="Geist" pitchFamily="34" charset="0"/>
                <a:ea typeface="Geist" pitchFamily="34" charset="-122"/>
                <a:cs typeface="Geist" pitchFamily="34" charset="-120"/>
              </a:rPr>
              <a:t> achieved the higher test-set performance.</a:t>
            </a:r>
            <a:endParaRPr lang="en-US" sz="1550" dirty="0"/>
          </a:p>
          <a:p>
            <a:pPr marL="284480" indent="-284480" algn="l">
              <a:lnSpc>
                <a:spcPct val="121000"/>
              </a:lnSpc>
              <a:buSzPct val="100000"/>
              <a:buChar char="•"/>
            </a:pPr>
            <a:r>
              <a:rPr lang="en-US" sz="1550" dirty="0">
                <a:solidFill>
                  <a:srgbClr val="2A3A43"/>
                </a:solidFill>
                <a:latin typeface="Geist" pitchFamily="34" charset="0"/>
                <a:ea typeface="Geist" pitchFamily="34" charset="-122"/>
                <a:cs typeface="Geist" pitchFamily="34" charset="-120"/>
              </a:rPr>
              <a:t>Cross-validation results were used to check whether the observed performance was consistent across different splits.</a:t>
            </a:r>
            <a:endParaRPr lang="en-US" sz="1550" dirty="0"/>
          </a:p>
        </p:txBody>
      </p:sp>
      <p:sp>
        <p:nvSpPr>
          <p:cNvPr id="11" name="Shape 8"/>
          <p:cNvSpPr/>
          <p:nvPr/>
        </p:nvSpPr>
        <p:spPr>
          <a:xfrm>
            <a:off x="6024991" y="1602288"/>
            <a:ext cx="12700" cy="3860403"/>
          </a:xfrm>
          <a:prstGeom prst="rect">
            <a:avLst/>
          </a:prstGeom>
          <a:solidFill>
            <a:srgbClr val="C9D6DB"/>
          </a:solidFill>
          <a:ln/>
        </p:spPr>
      </p:sp>
      <p:sp>
        <p:nvSpPr>
          <p:cNvPr id="6" name="Text 9"/>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11</a:t>
            </a:r>
            <a:endParaRPr lang="en-US" sz="1050" dirty="0"/>
          </a:p>
        </p:txBody>
      </p:sp>
      <p:pic>
        <p:nvPicPr>
          <p:cNvPr id="14" name="Picture 13">
            <a:extLst>
              <a:ext uri="{FF2B5EF4-FFF2-40B4-BE49-F238E27FC236}">
                <a16:creationId xmlns:a16="http://schemas.microsoft.com/office/drawing/2014/main" id="{E607571A-62FF-A6FC-A790-C0EE1AD23773}"/>
              </a:ext>
            </a:extLst>
          </p:cNvPr>
          <p:cNvPicPr>
            <a:picLocks noChangeAspect="1"/>
          </p:cNvPicPr>
          <p:nvPr/>
        </p:nvPicPr>
        <p:blipFill>
          <a:blip r:embed="rId3"/>
          <a:stretch>
            <a:fillRect/>
          </a:stretch>
        </p:blipFill>
        <p:spPr>
          <a:xfrm>
            <a:off x="470577" y="2450436"/>
            <a:ext cx="5340624" cy="2635385"/>
          </a:xfrm>
          <a:prstGeom prst="rect">
            <a:avLst/>
          </a:prstGeom>
        </p:spPr>
      </p:pic>
      <p:pic>
        <p:nvPicPr>
          <p:cNvPr id="15" name="Picture 14">
            <a:extLst>
              <a:ext uri="{FF2B5EF4-FFF2-40B4-BE49-F238E27FC236}">
                <a16:creationId xmlns:a16="http://schemas.microsoft.com/office/drawing/2014/main" id="{A970A935-2181-2A9E-3EDB-3E04EBE8281C}"/>
              </a:ext>
            </a:extLst>
          </p:cNvPr>
          <p:cNvPicPr>
            <a:picLocks noChangeAspect="1"/>
          </p:cNvPicPr>
          <p:nvPr/>
        </p:nvPicPr>
        <p:blipFill>
          <a:blip r:embed="rId4"/>
          <a:stretch>
            <a:fillRect/>
          </a:stretch>
        </p:blipFill>
        <p:spPr>
          <a:xfrm>
            <a:off x="10381626" y="6425362"/>
            <a:ext cx="1733639" cy="3683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Conclusion</a:t>
            </a:r>
            <a:endParaRPr lang="en-US" sz="3400" dirty="0"/>
          </a:p>
        </p:txBody>
      </p:sp>
      <p:sp>
        <p:nvSpPr>
          <p:cNvPr id="6" name="Text 4"/>
          <p:cNvSpPr/>
          <p:nvPr/>
        </p:nvSpPr>
        <p:spPr>
          <a:xfrm>
            <a:off x="5661329" y="1099095"/>
            <a:ext cx="6424653" cy="4847439"/>
          </a:xfrm>
          <a:prstGeom prst="rect">
            <a:avLst/>
          </a:prstGeom>
          <a:noFill/>
          <a:ln/>
        </p:spPr>
        <p:txBody>
          <a:bodyPr wrap="square" lIns="0" tIns="0" rIns="0" bIns="0" rtlCol="0" anchor="t">
            <a:norm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Arial" panose="020B0604020202020204" pitchFamily="34" charset="0"/>
              </a:rPr>
              <a:t>The CEAS-08 dataset was successfully cleaned, analyzed, and prepared for spam email classification.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TF-IDF</a:t>
            </a:r>
            <a:r>
              <a:rPr kumimoji="0" lang="en-US" altLang="en-US" sz="1600" b="0" i="0" u="none" strike="noStrike" cap="none" normalizeH="0" baseline="0" dirty="0">
                <a:ln>
                  <a:noFill/>
                </a:ln>
                <a:solidFill>
                  <a:schemeClr val="tx1"/>
                </a:solidFill>
                <a:effectLst/>
                <a:latin typeface="Arial" panose="020B0604020202020204" pitchFamily="34" charset="0"/>
              </a:rPr>
              <a:t> effectively converted email text into numerical features suitable for machine learning models.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Arial" panose="020B0604020202020204" pitchFamily="34" charset="0"/>
              </a:rPr>
              <a:t>Both </a:t>
            </a:r>
            <a:r>
              <a:rPr kumimoji="0" lang="en-US" altLang="en-US" sz="1600" b="1" i="0" u="none" strike="noStrike" cap="none" normalizeH="0" baseline="0" dirty="0">
                <a:ln>
                  <a:noFill/>
                </a:ln>
                <a:solidFill>
                  <a:schemeClr val="tx1"/>
                </a:solidFill>
                <a:effectLst/>
                <a:latin typeface="Arial" panose="020B0604020202020204" pitchFamily="34" charset="0"/>
              </a:rPr>
              <a:t>Decision Tree and </a:t>
            </a:r>
            <a:r>
              <a:rPr kumimoji="0" lang="en-US" altLang="en-US" sz="1600" b="1" i="0" u="none" strike="noStrike" cap="none" normalizeH="0" baseline="0" dirty="0" err="1">
                <a:ln>
                  <a:noFill/>
                </a:ln>
                <a:solidFill>
                  <a:schemeClr val="tx1"/>
                </a:solidFill>
                <a:effectLst/>
                <a:latin typeface="Arial" panose="020B0604020202020204" pitchFamily="34" charset="0"/>
              </a:rPr>
              <a:t>XGBoost</a:t>
            </a:r>
            <a:r>
              <a:rPr kumimoji="0" lang="en-US" altLang="en-US" sz="1600" b="0" i="0" u="none" strike="noStrike" cap="none" normalizeH="0" baseline="0" dirty="0">
                <a:ln>
                  <a:noFill/>
                </a:ln>
                <a:solidFill>
                  <a:schemeClr val="tx1"/>
                </a:solidFill>
                <a:effectLst/>
                <a:latin typeface="Arial" panose="020B0604020202020204" pitchFamily="34" charset="0"/>
              </a:rPr>
              <a:t> were successfully trained and evaluated using Accuracy, Precision, Recall, and F1 Score.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5-Fold Stratified Cross-Validation</a:t>
            </a:r>
            <a:r>
              <a:rPr kumimoji="0" lang="en-US" altLang="en-US" sz="1600" b="0" i="0" u="none" strike="noStrike" cap="none" normalizeH="0" baseline="0" dirty="0">
                <a:ln>
                  <a:noFill/>
                </a:ln>
                <a:solidFill>
                  <a:schemeClr val="tx1"/>
                </a:solidFill>
                <a:effectLst/>
                <a:latin typeface="Arial" panose="020B0604020202020204" pitchFamily="34" charset="0"/>
              </a:rPr>
              <a:t> was used to verify the consistency and reliability of the models' performance.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Arial" panose="020B0604020202020204" pitchFamily="34" charset="0"/>
              </a:rPr>
              <a:t>Based on the experimental results, </a:t>
            </a:r>
            <a:r>
              <a:rPr kumimoji="0" lang="en-US" altLang="en-US" sz="1600" b="1" i="0" u="none" strike="noStrike" cap="none" normalizeH="0" baseline="0" dirty="0" err="1">
                <a:ln>
                  <a:noFill/>
                </a:ln>
                <a:solidFill>
                  <a:schemeClr val="tx1"/>
                </a:solidFill>
                <a:effectLst/>
                <a:latin typeface="Arial" panose="020B0604020202020204" pitchFamily="34" charset="0"/>
              </a:rPr>
              <a:t>XGBoost</a:t>
            </a:r>
            <a:r>
              <a:rPr kumimoji="0" lang="en-US" altLang="en-US" sz="1600" b="1" i="0" u="none" strike="noStrike" cap="none" normalizeH="0" baseline="0" dirty="0">
                <a:ln>
                  <a:noFill/>
                </a:ln>
                <a:solidFill>
                  <a:schemeClr val="tx1"/>
                </a:solidFill>
                <a:effectLst/>
                <a:latin typeface="Arial" panose="020B0604020202020204" pitchFamily="34" charset="0"/>
              </a:rPr>
              <a:t> achieved better overall performance than Decision Tree</a:t>
            </a:r>
            <a:r>
              <a:rPr kumimoji="0" lang="en-US" altLang="en-US" sz="1600" b="0" i="0" u="none" strike="noStrike" cap="none" normalizeH="0" baseline="0" dirty="0">
                <a:ln>
                  <a:noFill/>
                </a:ln>
                <a:solidFill>
                  <a:schemeClr val="tx1"/>
                </a:solidFill>
                <a:effectLst/>
                <a:latin typeface="Arial" panose="020B0604020202020204" pitchFamily="34" charset="0"/>
              </a:rPr>
              <a:t>, demonstrating its effectiveness for spam email classification </a:t>
            </a:r>
          </a:p>
        </p:txBody>
      </p:sp>
      <p:sp>
        <p:nvSpPr>
          <p:cNvPr id="11" name="Text 9"/>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12</a:t>
            </a:r>
            <a:endParaRPr lang="en-US" sz="1050" dirty="0"/>
          </a:p>
        </p:txBody>
      </p:sp>
      <p:pic>
        <p:nvPicPr>
          <p:cNvPr id="14" name="Picture 13">
            <a:extLst>
              <a:ext uri="{FF2B5EF4-FFF2-40B4-BE49-F238E27FC236}">
                <a16:creationId xmlns:a16="http://schemas.microsoft.com/office/drawing/2014/main" id="{32AC2368-874A-3D9B-61C8-C8FA7FEC6B2F}"/>
              </a:ext>
            </a:extLst>
          </p:cNvPr>
          <p:cNvPicPr>
            <a:picLocks noChangeAspect="1"/>
          </p:cNvPicPr>
          <p:nvPr/>
        </p:nvPicPr>
        <p:blipFill>
          <a:blip r:embed="rId3"/>
          <a:stretch>
            <a:fillRect/>
          </a:stretch>
        </p:blipFill>
        <p:spPr>
          <a:xfrm>
            <a:off x="161677" y="1587405"/>
            <a:ext cx="5162815" cy="3683189"/>
          </a:xfrm>
          <a:prstGeom prst="rect">
            <a:avLst/>
          </a:prstGeom>
        </p:spPr>
      </p:pic>
      <p:pic>
        <p:nvPicPr>
          <p:cNvPr id="15" name="Picture 14">
            <a:extLst>
              <a:ext uri="{FF2B5EF4-FFF2-40B4-BE49-F238E27FC236}">
                <a16:creationId xmlns:a16="http://schemas.microsoft.com/office/drawing/2014/main" id="{AF52B889-FC8D-D3D1-7E4D-5A26A8CC746C}"/>
              </a:ext>
            </a:extLst>
          </p:cNvPr>
          <p:cNvPicPr>
            <a:picLocks noChangeAspect="1"/>
          </p:cNvPicPr>
          <p:nvPr/>
        </p:nvPicPr>
        <p:blipFill>
          <a:blip r:embed="rId4"/>
          <a:stretch>
            <a:fillRect/>
          </a:stretch>
        </p:blipFill>
        <p:spPr>
          <a:xfrm>
            <a:off x="10381626" y="6417411"/>
            <a:ext cx="1733639" cy="3683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BC7F70-31CD-B2CC-6A6C-A050524F90DF}"/>
              </a:ext>
            </a:extLst>
          </p:cNvPr>
          <p:cNvPicPr>
            <a:picLocks noChangeAspect="1"/>
          </p:cNvPicPr>
          <p:nvPr/>
        </p:nvPicPr>
        <p:blipFill>
          <a:blip r:embed="rId2"/>
          <a:stretch>
            <a:fillRect/>
          </a:stretch>
        </p:blipFill>
        <p:spPr>
          <a:xfrm>
            <a:off x="10381626" y="6425362"/>
            <a:ext cx="1733639" cy="368319"/>
          </a:xfrm>
          <a:prstGeom prst="rect">
            <a:avLst/>
          </a:prstGeom>
        </p:spPr>
      </p:pic>
      <p:sp>
        <p:nvSpPr>
          <p:cNvPr id="4" name="TextBox 3">
            <a:extLst>
              <a:ext uri="{FF2B5EF4-FFF2-40B4-BE49-F238E27FC236}">
                <a16:creationId xmlns:a16="http://schemas.microsoft.com/office/drawing/2014/main" id="{1594C126-46FF-97B3-E8EC-F8ED6840B635}"/>
              </a:ext>
            </a:extLst>
          </p:cNvPr>
          <p:cNvSpPr txBox="1"/>
          <p:nvPr/>
        </p:nvSpPr>
        <p:spPr>
          <a:xfrm>
            <a:off x="4175760" y="2967335"/>
            <a:ext cx="3840480" cy="923330"/>
          </a:xfrm>
          <a:prstGeom prst="rect">
            <a:avLst/>
          </a:prstGeom>
          <a:noFill/>
        </p:spPr>
        <p:txBody>
          <a:bodyPr wrap="square" rtlCol="0">
            <a:spAutoFit/>
          </a:bodyPr>
          <a:lstStyle/>
          <a:p>
            <a:r>
              <a:rPr lang="en-GB" sz="5400" dirty="0"/>
              <a:t>THANK YOU</a:t>
            </a:r>
          </a:p>
        </p:txBody>
      </p:sp>
    </p:spTree>
    <p:extLst>
      <p:ext uri="{BB962C8B-B14F-4D97-AF65-F5344CB8AC3E}">
        <p14:creationId xmlns:p14="http://schemas.microsoft.com/office/powerpoint/2010/main" val="2392276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1064</Words>
  <Application>Microsoft Office PowerPoint</Application>
  <PresentationFormat>Widescreen</PresentationFormat>
  <Paragraphs>187</Paragraphs>
  <Slides>13</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Geist Medium</vt:lpstr>
      <vt:lpstr>Arial</vt:lpstr>
      <vt:lpstr>Geist Mono</vt:lpstr>
      <vt:lpstr>Calibri</vt:lpstr>
      <vt:lpstr>Geist Mono Medium</vt:lpstr>
      <vt:lpstr>Lora</vt:lpstr>
      <vt:lpstr>Geist SemiBold</vt:lpstr>
      <vt:lpstr>Geist Bold</vt:lpstr>
      <vt:lpstr>Geist</vt:lpstr>
      <vt:lpstr>Lora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LENOVO</cp:lastModifiedBy>
  <cp:revision>3</cp:revision>
  <dcterms:created xsi:type="dcterms:W3CDTF">2026-09-29T04:32:21Z</dcterms:created>
  <dcterms:modified xsi:type="dcterms:W3CDTF">2026-09-29T05:24:11Z</dcterms:modified>
</cp:coreProperties>
</file>